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401" r:id="rId2"/>
    <p:sldId id="402" r:id="rId3"/>
    <p:sldId id="450" r:id="rId4"/>
    <p:sldId id="259" r:id="rId5"/>
    <p:sldId id="263" r:id="rId6"/>
    <p:sldId id="403" r:id="rId7"/>
    <p:sldId id="321" r:id="rId8"/>
    <p:sldId id="404" r:id="rId9"/>
    <p:sldId id="260" r:id="rId10"/>
    <p:sldId id="436" r:id="rId11"/>
    <p:sldId id="369" r:id="rId12"/>
    <p:sldId id="451" r:id="rId13"/>
    <p:sldId id="354" r:id="rId14"/>
    <p:sldId id="405" r:id="rId15"/>
    <p:sldId id="394" r:id="rId16"/>
    <p:sldId id="406" r:id="rId17"/>
    <p:sldId id="325" r:id="rId18"/>
    <p:sldId id="407" r:id="rId19"/>
    <p:sldId id="326" r:id="rId20"/>
    <p:sldId id="449" r:id="rId21"/>
    <p:sldId id="336" r:id="rId22"/>
    <p:sldId id="434" r:id="rId23"/>
    <p:sldId id="424" r:id="rId24"/>
    <p:sldId id="341" r:id="rId25"/>
    <p:sldId id="433" r:id="rId26"/>
    <p:sldId id="342" r:id="rId27"/>
    <p:sldId id="437" r:id="rId28"/>
    <p:sldId id="339" r:id="rId29"/>
    <p:sldId id="452" r:id="rId30"/>
    <p:sldId id="438" r:id="rId31"/>
    <p:sldId id="453" r:id="rId32"/>
    <p:sldId id="399" r:id="rId33"/>
    <p:sldId id="400" r:id="rId3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3554" autoAdjust="0"/>
  </p:normalViewPr>
  <p:slideViewPr>
    <p:cSldViewPr>
      <p:cViewPr varScale="1">
        <p:scale>
          <a:sx n="68" d="100"/>
          <a:sy n="68" d="100"/>
        </p:scale>
        <p:origin x="1446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en-US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0EBFBEA-2FCD-4253-B677-53DF5DB7B1B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7182045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noFill/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04548F-284E-4FDC-88A9-3E193CA8786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3475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C14617-DDE1-4DB8-9B14-45FE9BA3AA7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23120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71F70F-D636-4447-B39C-72CAE4B85C7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86386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EA30E1E-12B7-471D-8F43-7BBB0DA000A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7398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EFDA2E-6EDF-4021-88DD-5035EF6D7D5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58344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4CC602-6E79-49C7-8674-59BBB48C20E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90219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56A3BE-A527-4CBE-A326-F9468956CFE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19232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C231FF1-B40B-43C0-97A7-06A4C94BF86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966922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E4F5EC-2109-4309-968E-DC04769867E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82435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C2F6D8-74D4-4EE8-9BD8-28DA6A0C900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35265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04D57E-90C5-4BEA-AE3D-96AE8219E7C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68120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1" name="Picture 7" descr="CS-022 copy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bg1"/>
                </a:solidFill>
              </a:defRPr>
            </a:lvl1pPr>
          </a:lstStyle>
          <a:p>
            <a:fld id="{BB00528D-AED4-44DE-A93A-A84596C4EBC0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Times New Roman" panose="02020603050405020304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Times New Roman" panose="02020603050405020304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Times New Roman" panose="02020603050405020304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Times New Roman" panose="02020603050405020304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Times New Roman" panose="02020603050405020304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Times New Roman" panose="02020603050405020304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Times New Roman" panose="02020603050405020304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Times New Roman" panose="02020603050405020304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6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32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3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46FD9-6C66-4AE2-9AC0-B6C418332578}" type="slidenum">
              <a:rPr lang="en-US" altLang="en-US"/>
              <a:pPr/>
              <a:t>1</a:t>
            </a:fld>
            <a:endParaRPr lang="en-US" altLang="en-US"/>
          </a:p>
        </p:txBody>
      </p:sp>
      <p:sp>
        <p:nvSpPr>
          <p:cNvPr id="1566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02131" y="1295400"/>
            <a:ext cx="7772400" cy="1143000"/>
          </a:xfrm>
        </p:spPr>
        <p:txBody>
          <a:bodyPr anchor="ctr"/>
          <a:lstStyle/>
          <a:p>
            <a:r>
              <a:rPr lang="en-US" altLang="en-US" sz="4400" dirty="0"/>
              <a:t>Software Requirements Engineering</a:t>
            </a:r>
            <a:br>
              <a:rPr lang="en-US" altLang="en-US" sz="4400" dirty="0"/>
            </a:br>
            <a:endParaRPr lang="en-US" altLang="en-US" sz="4400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692472" y="4368081"/>
            <a:ext cx="7924800" cy="1830050"/>
          </a:xfrm>
          <a:prstGeom prst="rect">
            <a:avLst/>
          </a:prstGeom>
        </p:spPr>
        <p:txBody>
          <a:bodyPr vert="horz" rtlCol="0">
            <a:normAutofit/>
          </a:bodyPr>
          <a:lstStyle>
            <a:lvl1pPr marL="0" indent="0" algn="ctr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None/>
              <a:defRPr kumimoji="0" sz="1600" b="1" kern="1200" cap="all" spc="25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"/>
              <a:buNone/>
              <a:defRPr kumimoji="0"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spcBef>
                <a:spcPct val="20000"/>
              </a:spcBef>
              <a:buClr>
                <a:schemeClr val="accent3"/>
              </a:buClr>
              <a:buSzPct val="75000"/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spcBef>
                <a:spcPct val="20000"/>
              </a:spcBef>
              <a:buClr>
                <a:schemeClr val="accent4"/>
              </a:buClr>
              <a:buSzPct val="70000"/>
              <a:buFont typeface="Wingdings"/>
              <a:buNone/>
              <a:defRPr kumimoji="0"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spcBef>
                <a:spcPct val="20000"/>
              </a:spcBef>
              <a:buClr>
                <a:schemeClr val="accent5"/>
              </a:buClr>
              <a:buFontTx/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90000"/>
              <a:buNone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spcBef>
                <a:spcPct val="20000"/>
              </a:spcBef>
              <a:buClr>
                <a:schemeClr val="accent4">
                  <a:shade val="75000"/>
                </a:schemeClr>
              </a:buClr>
              <a:buNone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spcBef>
                <a:spcPct val="20000"/>
              </a:spcBef>
              <a:buClr>
                <a:schemeClr val="accent2">
                  <a:shade val="75000"/>
                </a:schemeClr>
              </a:buClr>
              <a:buSzPct val="90000"/>
              <a:buNone/>
              <a:defRPr kumimoji="0" sz="140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None/>
              <a:defRPr/>
            </a:pPr>
            <a:r>
              <a:rPr lang="en-US" altLang="zh-CN" dirty="0"/>
              <a:t>  </a:t>
            </a:r>
            <a:endParaRPr lang="en-US" dirty="0"/>
          </a:p>
          <a:p>
            <a:r>
              <a:rPr lang="en-US" altLang="zh-CN" dirty="0"/>
              <a:t> 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ea typeface="ＭＳ Ｐゴシック" pitchFamily="29" charset="-128"/>
              </a:rPr>
              <a:t>Hamood ur Rehman 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ea typeface="ＭＳ Ｐゴシック" pitchFamily="29" charset="-128"/>
            </a:endParaRPr>
          </a:p>
          <a:p>
            <a:r>
              <a:rPr lang="en-US" dirty="0">
                <a:ea typeface="ＭＳ Ｐゴシック" pitchFamily="29" charset="-128"/>
              </a:rPr>
              <a:t>(Assistant Prof. of Software Engineering)</a:t>
            </a:r>
          </a:p>
          <a:p>
            <a:r>
              <a:rPr lang="en-US" dirty="0">
                <a:ea typeface="ＭＳ Ｐゴシック" pitchFamily="29" charset="-128"/>
              </a:rPr>
              <a:t>IMsciences, Peshawar</a:t>
            </a:r>
          </a:p>
          <a:p>
            <a:pPr>
              <a:buFont typeface="Arial" pitchFamily="34" charset="0"/>
              <a:buNone/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5BE4-B134-4B83-978B-4417EA3555CC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157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Introduction</a:t>
            </a:r>
          </a:p>
        </p:txBody>
      </p:sp>
      <p:sp>
        <p:nvSpPr>
          <p:cNvPr id="157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Requirements form the basis for all software products</a:t>
            </a:r>
          </a:p>
          <a:p>
            <a:pPr>
              <a:lnSpc>
                <a:spcPct val="90000"/>
              </a:lnSpc>
            </a:pPr>
            <a:endParaRPr lang="en-US" altLang="en-US"/>
          </a:p>
          <a:p>
            <a:pPr>
              <a:lnSpc>
                <a:spcPct val="90000"/>
              </a:lnSpc>
            </a:pPr>
            <a:r>
              <a:rPr lang="en-US" altLang="en-US"/>
              <a:t>Requirements engineering is the process, which enables us to systematically determine the requirements for a software product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0F689-6572-4B32-9DF6-6C3D8192EE34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2088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 anchor="ctr"/>
          <a:lstStyle/>
          <a:p>
            <a:r>
              <a:rPr lang="en-US" altLang="en-US" sz="4400"/>
              <a:t>Software Requirements</a:t>
            </a:r>
          </a:p>
        </p:txBody>
      </p:sp>
      <p:sp>
        <p:nvSpPr>
          <p:cNvPr id="2088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 lang="en-US" altLang="en-US" sz="3600"/>
              <a:t>Lecture #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90CF1-6782-4D7C-BB85-F9009DE479E7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Requirement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Something required, something wanted or needed</a:t>
            </a:r>
          </a:p>
          <a:p>
            <a:pPr lvl="1"/>
            <a:r>
              <a:rPr lang="en-US" altLang="en-US"/>
              <a:t>Webster’s dictionary</a:t>
            </a:r>
          </a:p>
          <a:p>
            <a:r>
              <a:rPr lang="en-US" altLang="en-US"/>
              <a:t>There is a huge difference between </a:t>
            </a:r>
            <a:r>
              <a:rPr lang="en-US" altLang="en-US" i="1"/>
              <a:t>wanted</a:t>
            </a:r>
            <a:r>
              <a:rPr lang="en-US" altLang="en-US"/>
              <a:t> and </a:t>
            </a:r>
            <a:r>
              <a:rPr lang="en-US" altLang="en-US" i="1"/>
              <a:t>needed </a:t>
            </a:r>
            <a:r>
              <a:rPr lang="en-US" altLang="en-US"/>
              <a:t>and it should be kept in mind all the time</a:t>
            </a:r>
          </a:p>
          <a:p>
            <a:endParaRPr lang="en-US" altLang="en-US" i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52CA9-30C3-41A6-A3BA-E771A0C19B77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Software Requirements - 1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8153400" cy="4114800"/>
          </a:xfrm>
        </p:spPr>
        <p:txBody>
          <a:bodyPr/>
          <a:lstStyle/>
          <a:p>
            <a:r>
              <a:rPr lang="en-US" altLang="en-US" dirty="0"/>
              <a:t>A complete description of </a:t>
            </a:r>
            <a:r>
              <a:rPr lang="en-US" altLang="en-US" i="1" dirty="0"/>
              <a:t>what</a:t>
            </a:r>
            <a:r>
              <a:rPr lang="en-US" altLang="en-US" dirty="0"/>
              <a:t> the software system will do without describing </a:t>
            </a:r>
            <a:r>
              <a:rPr lang="en-US" altLang="en-US" i="1" dirty="0"/>
              <a:t>how</a:t>
            </a:r>
            <a:r>
              <a:rPr lang="en-US" altLang="en-US" dirty="0"/>
              <a:t> it will do it is represented by the software requirements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2ACEA-40E1-4C0B-A6CB-0854001CFEE2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15872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Software Requirements - 2</a:t>
            </a:r>
          </a:p>
        </p:txBody>
      </p:sp>
      <p:sp>
        <p:nvSpPr>
          <p:cNvPr id="158723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Software requirements are complete specification of the desired external behavior of the software system to be built</a:t>
            </a:r>
          </a:p>
          <a:p>
            <a:pPr>
              <a:lnSpc>
                <a:spcPct val="90000"/>
              </a:lnSpc>
            </a:pPr>
            <a:endParaRPr lang="en-US" altLang="en-US"/>
          </a:p>
          <a:p>
            <a:pPr>
              <a:lnSpc>
                <a:spcPct val="90000"/>
              </a:lnSpc>
            </a:pPr>
            <a:r>
              <a:rPr lang="en-US" altLang="en-US"/>
              <a:t>They also represent External behavior of the system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F9F97-CD26-44BE-A775-E8CD80CE2EF1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Software Requirements - 3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Software requirements may be:</a:t>
            </a:r>
          </a:p>
          <a:p>
            <a:pPr lvl="1"/>
            <a:r>
              <a:rPr lang="en-US" altLang="en-US"/>
              <a:t>Abstract statements of services and/or constraints</a:t>
            </a:r>
          </a:p>
          <a:p>
            <a:pPr lvl="1"/>
            <a:r>
              <a:rPr lang="en-US" altLang="en-US"/>
              <a:t>Detailed mathematical functions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0B2B5-A1B2-4F6E-B0E1-9E782573A6A9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159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Software Requirements - 4</a:t>
            </a:r>
          </a:p>
        </p:txBody>
      </p:sp>
      <p:sp>
        <p:nvSpPr>
          <p:cNvPr id="159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Software requirements may be:</a:t>
            </a:r>
          </a:p>
          <a:p>
            <a:pPr lvl="1"/>
            <a:r>
              <a:rPr lang="en-US" altLang="en-US"/>
              <a:t>Part of the bid of contract</a:t>
            </a:r>
          </a:p>
          <a:p>
            <a:pPr lvl="1"/>
            <a:r>
              <a:rPr lang="en-US" altLang="en-US"/>
              <a:t>The contract itself</a:t>
            </a:r>
          </a:p>
          <a:p>
            <a:pPr lvl="1"/>
            <a:r>
              <a:rPr lang="en-US" altLang="en-US"/>
              <a:t>Part of the technical document, which describes a product</a:t>
            </a:r>
          </a:p>
          <a:p>
            <a:endParaRPr lang="en-U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699C4-3C4C-429A-8487-F86897D5C35E}" type="slidenum">
              <a:rPr lang="en-US" altLang="en-US"/>
              <a:pPr/>
              <a:t>9</a:t>
            </a:fld>
            <a:endParaRPr lang="en-US" altLang="en-US"/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r>
              <a:rPr lang="en-US" altLang="en-US"/>
              <a:t>IEEE Definition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r>
              <a:rPr lang="en-US" altLang="en-US"/>
              <a:t>A condition or capability that must be met or possessed by a system...to satisfy a contract, standard, specification, or other formally imposed document</a:t>
            </a:r>
          </a:p>
          <a:p>
            <a:pPr lvl="1"/>
            <a:r>
              <a:rPr lang="en-US" altLang="en-US"/>
              <a:t>IEEE Std 729</a:t>
            </a: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4B98A-D615-4B22-A5ED-1B6844FD47B8}" type="slidenum">
              <a:rPr lang="en-US" altLang="en-US"/>
              <a:pPr/>
              <a:t>10</a:t>
            </a:fld>
            <a:endParaRPr lang="en-US" altLang="en-US"/>
          </a:p>
        </p:txBody>
      </p:sp>
      <p:sp>
        <p:nvSpPr>
          <p:cNvPr id="19456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Sources of Requirements</a:t>
            </a:r>
          </a:p>
        </p:txBody>
      </p:sp>
      <p:sp>
        <p:nvSpPr>
          <p:cNvPr id="194563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Stakeholders</a:t>
            </a:r>
          </a:p>
          <a:p>
            <a:pPr lvl="1"/>
            <a:r>
              <a:rPr lang="en-US" altLang="en-US"/>
              <a:t>People affected in some way by the system</a:t>
            </a:r>
          </a:p>
          <a:p>
            <a:r>
              <a:rPr lang="en-US" altLang="en-US"/>
              <a:t>Documents</a:t>
            </a:r>
          </a:p>
          <a:p>
            <a:r>
              <a:rPr lang="en-US" altLang="en-US"/>
              <a:t>Existing system</a:t>
            </a:r>
          </a:p>
          <a:p>
            <a:r>
              <a:rPr lang="en-US" altLang="en-US"/>
              <a:t>Domain/business area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9CA00-ED5D-45A1-A121-F7ED4D936F12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123906" name="Rectangle 20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200"/>
              <a:t>Levels of Software Requirements</a:t>
            </a:r>
          </a:p>
        </p:txBody>
      </p:sp>
      <p:sp>
        <p:nvSpPr>
          <p:cNvPr id="123907" name="Rectangle 2051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Stakeholders describe requirements at different levels of detail</a:t>
            </a:r>
          </a:p>
          <a:p>
            <a:pPr lvl="1"/>
            <a:r>
              <a:rPr lang="en-US" altLang="en-US" i="1"/>
              <a:t>“What versus How”</a:t>
            </a:r>
            <a:endParaRPr lang="en-US" altLang="en-US"/>
          </a:p>
          <a:p>
            <a:pPr lvl="1"/>
            <a:r>
              <a:rPr lang="en-US" altLang="en-US" i="1"/>
              <a:t>“One person’s floor is another person’s ceiling</a:t>
            </a:r>
            <a:r>
              <a:rPr lang="en-US" altLang="en-US"/>
              <a:t>”</a:t>
            </a:r>
          </a:p>
          <a:p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62694-645B-41D3-876A-3D963FC5F0C6}" type="slidenum">
              <a:rPr lang="en-US" altLang="en-US"/>
              <a:pPr/>
              <a:t>12</a:t>
            </a:fld>
            <a:endParaRPr lang="en-US" altLang="en-US"/>
          </a:p>
        </p:txBody>
      </p:sp>
      <p:sp>
        <p:nvSpPr>
          <p:cNvPr id="210946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r>
              <a:rPr lang="en-US" altLang="en-US"/>
              <a:t>Importance of Software Requirements</a:t>
            </a:r>
          </a:p>
        </p:txBody>
      </p:sp>
      <p:sp>
        <p:nvSpPr>
          <p:cNvPr id="2109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r>
              <a:rPr lang="en-US" altLang="en-US"/>
              <a:t>The hardest single part of building a software system is deciding what to build...No other part of the work so cripples the resulting system if done wrong.  No other part is difficult to rectify later</a:t>
            </a:r>
          </a:p>
          <a:p>
            <a:pPr lvl="1"/>
            <a:r>
              <a:rPr lang="en-US" altLang="en-US"/>
              <a:t>Fred Brooks</a:t>
            </a: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0983F-2EEC-48ED-8869-D8A1A797E22B}" type="slidenum">
              <a:rPr lang="en-US" altLang="en-US"/>
              <a:pPr/>
              <a:t>13</a:t>
            </a:fld>
            <a:endParaRPr lang="en-US" altLang="en-US"/>
          </a:p>
        </p:txBody>
      </p:sp>
      <p:sp>
        <p:nvSpPr>
          <p:cNvPr id="108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Examples of Requirements - 1</a:t>
            </a:r>
          </a:p>
        </p:txBody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The system shall maintain records of all payments made to employees on accounts of salaries, bonuses, travel/daily allowances, medical allowances, etc.</a:t>
            </a:r>
          </a:p>
          <a:p>
            <a:endParaRPr lang="en-US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8DB5C-CAFF-443B-99EB-D753168F393D}" type="slidenum">
              <a:rPr lang="en-US" altLang="en-US"/>
              <a:pPr/>
              <a:t>14</a:t>
            </a:fld>
            <a:endParaRPr lang="en-US" altLang="en-US"/>
          </a:p>
        </p:txBody>
      </p:sp>
      <p:sp>
        <p:nvSpPr>
          <p:cNvPr id="160770" name="Rectangle 20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Examples of Requirements - 2</a:t>
            </a:r>
          </a:p>
        </p:txBody>
      </p:sp>
      <p:sp>
        <p:nvSpPr>
          <p:cNvPr id="160771" name="Rectangle 2051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The system shall interface with the central computer to send daily sales and inventory data from every retail store</a:t>
            </a:r>
          </a:p>
          <a:p>
            <a:r>
              <a:rPr lang="en-US" altLang="en-US" dirty="0"/>
              <a:t>The system shall support at least twenty transactions per second</a:t>
            </a:r>
          </a:p>
          <a:p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EB95E-F5B8-4907-B826-BD2E86485EFF}" type="slidenum">
              <a:rPr lang="en-US" altLang="en-US"/>
              <a:pPr/>
              <a:t>15</a:t>
            </a:fld>
            <a:endParaRPr lang="en-US" altLang="en-US"/>
          </a:p>
        </p:txBody>
      </p:sp>
      <p:sp>
        <p:nvSpPr>
          <p:cNvPr id="14950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Examples of Requirements - 3</a:t>
            </a:r>
          </a:p>
        </p:txBody>
      </p:sp>
      <p:sp>
        <p:nvSpPr>
          <p:cNvPr id="149507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The system shall allow users to search for an item by title, author, or by International Standard Book Number</a:t>
            </a:r>
          </a:p>
          <a:p>
            <a:pPr>
              <a:buFontTx/>
              <a:buNone/>
            </a:pPr>
            <a:endParaRPr lang="en-US" altLang="en-US"/>
          </a:p>
          <a:p>
            <a:r>
              <a:rPr lang="en-US" altLang="en-US"/>
              <a:t>The system’s user interface shall be implemented using a web browser</a:t>
            </a:r>
          </a:p>
          <a:p>
            <a:endParaRPr lang="en-US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9C87D-01B4-4944-99D7-DC8A968BF38B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1617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667000"/>
            <a:ext cx="7772400" cy="1143000"/>
          </a:xfrm>
        </p:spPr>
        <p:txBody>
          <a:bodyPr anchor="ctr"/>
          <a:lstStyle/>
          <a:p>
            <a:r>
              <a:rPr lang="en-US" altLang="en-US" sz="4400"/>
              <a:t>Kinds of Software Requirements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8A29D-B22F-43FC-8734-40A1B4016B87}" type="slidenum">
              <a:rPr lang="en-US" altLang="en-US"/>
              <a:pPr/>
              <a:t>17</a:t>
            </a:fld>
            <a:endParaRPr lang="en-US" altLang="en-US"/>
          </a:p>
        </p:txBody>
      </p:sp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Kinds of Software Requirements</a:t>
            </a:r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Functional requirements</a:t>
            </a:r>
          </a:p>
          <a:p>
            <a:r>
              <a:rPr lang="en-US" altLang="en-US"/>
              <a:t>Non-functional requirements</a:t>
            </a:r>
          </a:p>
          <a:p>
            <a:r>
              <a:rPr lang="en-US" altLang="en-US"/>
              <a:t>Domain requirements</a:t>
            </a:r>
          </a:p>
          <a:p>
            <a:r>
              <a:rPr lang="en-US" altLang="en-US"/>
              <a:t>Inverse requirements</a:t>
            </a:r>
          </a:p>
          <a:p>
            <a:r>
              <a:rPr lang="en-US" altLang="en-US"/>
              <a:t>Design and implementation constraints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2B525-7E37-4CD1-AADC-814F4CB40C6E}" type="slidenum">
              <a:rPr lang="en-US" altLang="en-US"/>
              <a:pPr/>
              <a:t>18</a:t>
            </a:fld>
            <a:endParaRPr lang="en-US" altLang="en-US"/>
          </a:p>
        </p:txBody>
      </p:sp>
      <p:sp>
        <p:nvSpPr>
          <p:cNvPr id="1628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 anchor="ctr"/>
          <a:lstStyle/>
          <a:p>
            <a:r>
              <a:rPr lang="en-US" altLang="en-US" sz="4400"/>
              <a:t>Functional Requirements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A79C9-5CD2-4648-BA5B-77D927058277}" type="slidenum">
              <a:rPr lang="en-US" altLang="en-US"/>
              <a:pPr/>
              <a:t>19</a:t>
            </a:fld>
            <a:endParaRPr lang="en-US" altLang="en-US"/>
          </a:p>
        </p:txBody>
      </p:sp>
      <p:sp>
        <p:nvSpPr>
          <p:cNvPr id="78850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Functional Requirements - 1</a:t>
            </a:r>
          </a:p>
        </p:txBody>
      </p:sp>
      <p:sp>
        <p:nvSpPr>
          <p:cNvPr id="78851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Statements describing what the system does</a:t>
            </a:r>
          </a:p>
          <a:p>
            <a:endParaRPr lang="en-US" altLang="en-US"/>
          </a:p>
          <a:p>
            <a:r>
              <a:rPr lang="en-US" altLang="en-US"/>
              <a:t>Functionality of the system</a:t>
            </a:r>
          </a:p>
          <a:p>
            <a:pPr>
              <a:buFontTx/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25B9D-FCAA-4CF5-9BEE-8C7F64415800}" type="slidenum">
              <a:rPr lang="en-US" altLang="en-US"/>
              <a:pPr/>
              <a:t>20</a:t>
            </a:fld>
            <a:endParaRPr lang="en-US" altLang="en-US"/>
          </a:p>
        </p:txBody>
      </p:sp>
      <p:sp>
        <p:nvSpPr>
          <p:cNvPr id="207874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Functional Requirements - 2</a:t>
            </a:r>
          </a:p>
        </p:txBody>
      </p:sp>
      <p:sp>
        <p:nvSpPr>
          <p:cNvPr id="207875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Statements of services the system should provide</a:t>
            </a:r>
          </a:p>
          <a:p>
            <a:pPr lvl="1"/>
            <a:r>
              <a:rPr lang="en-US" altLang="en-US" dirty="0"/>
              <a:t>Reaction to particular inputs</a:t>
            </a:r>
          </a:p>
          <a:p>
            <a:pPr lvl="1"/>
            <a:r>
              <a:rPr lang="en-US" altLang="en-US" dirty="0"/>
              <a:t>Behavior in particular situations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3A222-F3DE-48D8-9489-88BF5C1ED4E3}" type="slidenum">
              <a:rPr lang="en-US" altLang="en-US"/>
              <a:pPr/>
              <a:t>21</a:t>
            </a:fld>
            <a:endParaRPr lang="en-US" altLang="en-US"/>
          </a:p>
        </p:txBody>
      </p:sp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Functional Requirements - 3</a:t>
            </a:r>
          </a:p>
        </p:txBody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Sequencing and parallelism are also captured by functional requirements</a:t>
            </a:r>
          </a:p>
          <a:p>
            <a:endParaRPr lang="en-US" altLang="en-US"/>
          </a:p>
          <a:p>
            <a:r>
              <a:rPr lang="en-US" altLang="en-US"/>
              <a:t>Abnormal behavior is also documented as functional requirements in the form of exception handling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696D6-D9D0-43F7-AC93-25CBC8BA2BB5}" type="slidenum">
              <a:rPr lang="en-US" altLang="en-US"/>
              <a:pPr/>
              <a:t>22</a:t>
            </a:fld>
            <a:endParaRPr lang="en-US" altLang="en-US"/>
          </a:p>
        </p:txBody>
      </p:sp>
      <p:sp>
        <p:nvSpPr>
          <p:cNvPr id="192514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Functional Requirements - 4</a:t>
            </a:r>
          </a:p>
        </p:txBody>
      </p:sp>
      <p:sp>
        <p:nvSpPr>
          <p:cNvPr id="192515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Functional requirements should be complete and consistent </a:t>
            </a:r>
          </a:p>
          <a:p>
            <a:endParaRPr lang="en-US" altLang="en-US" dirty="0"/>
          </a:p>
          <a:p>
            <a:r>
              <a:rPr lang="en-US" altLang="en-US" dirty="0"/>
              <a:t>Customers and developers usually focus all their attention on functional requirements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5319B-B55D-44D9-93F5-7A50558ECC39}" type="slidenum">
              <a:rPr lang="en-US" altLang="en-US"/>
              <a:pPr/>
              <a:t>23</a:t>
            </a:fld>
            <a:endParaRPr lang="en-US" altLang="en-US"/>
          </a:p>
        </p:txBody>
      </p:sp>
      <p:sp>
        <p:nvSpPr>
          <p:cNvPr id="182274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/>
              <a:t>Functional Requirements Example # 1</a:t>
            </a:r>
          </a:p>
        </p:txBody>
      </p:sp>
      <p:sp>
        <p:nvSpPr>
          <p:cNvPr id="182275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The system shall solve a quadratic equation using the following formula</a:t>
            </a:r>
          </a:p>
          <a:p>
            <a:pPr lvl="1">
              <a:buFontTx/>
              <a:buNone/>
            </a:pPr>
            <a:endParaRPr lang="en-US" altLang="en-US"/>
          </a:p>
          <a:p>
            <a:pPr lvl="1" algn="ctr">
              <a:buFontTx/>
              <a:buNone/>
            </a:pPr>
            <a:r>
              <a:rPr lang="en-US" altLang="en-US" sz="4000"/>
              <a:t>x = (-b</a:t>
            </a:r>
            <a:r>
              <a:rPr lang="en-US" altLang="en-US" sz="4000" u="sng"/>
              <a:t>+</a:t>
            </a:r>
            <a:r>
              <a:rPr lang="en-US" altLang="en-US" sz="4000"/>
              <a:t>sqrt(b</a:t>
            </a:r>
            <a:r>
              <a:rPr lang="en-US" altLang="en-US" sz="4000" baseline="30000"/>
              <a:t>2</a:t>
            </a:r>
            <a:r>
              <a:rPr lang="en-US" altLang="en-US" sz="4000"/>
              <a:t> – 4*a*c))/2*a</a:t>
            </a:r>
          </a:p>
          <a:p>
            <a:pPr lvl="1">
              <a:buFontTx/>
              <a:buNone/>
            </a:pPr>
            <a:endParaRPr lang="en-US" altLang="en-US" sz="40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64562-AC29-48F9-B85F-49BAB09D3094}" type="slidenum">
              <a:rPr lang="en-US" altLang="en-US"/>
              <a:pPr/>
              <a:t>24</a:t>
            </a:fld>
            <a:endParaRPr lang="en-US" altLang="en-US"/>
          </a:p>
        </p:txBody>
      </p:sp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/>
              <a:t>Functional Requirements Example # 2</a:t>
            </a:r>
          </a:p>
        </p:txBody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The user shall be able to search either the entire database of patients or select a subset from it (admitted patients, or patients with asthma, etc.)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49530-D097-4E75-9F99-E3B488BBF47C}" type="slidenum">
              <a:rPr lang="en-US" altLang="en-US"/>
              <a:pPr/>
              <a:t>25</a:t>
            </a:fld>
            <a:endParaRPr lang="en-US" altLang="en-US"/>
          </a:p>
        </p:txBody>
      </p:sp>
      <p:sp>
        <p:nvSpPr>
          <p:cNvPr id="191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/>
              <a:t>Functional Requirements Example # 3</a:t>
            </a:r>
          </a:p>
        </p:txBody>
      </p:sp>
      <p:sp>
        <p:nvSpPr>
          <p:cNvPr id="191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The system shall provide appropriate viewers for the user to read documents in the document store</a:t>
            </a:r>
          </a:p>
          <a:p>
            <a:endParaRPr lang="en-US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4C62-01EF-4B48-8941-1717B6CCB548}" type="slidenum">
              <a:rPr lang="en-US" altLang="en-US"/>
              <a:pPr/>
              <a:t>26</a:t>
            </a:fld>
            <a:endParaRPr lang="en-US" altLang="en-US"/>
          </a:p>
        </p:txBody>
      </p:sp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/>
              <a:t>Functional Requirements Example # 4</a:t>
            </a:r>
          </a:p>
        </p:txBody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Every order shall be allocated a unique identifier (ORDER_ID) which the user shall use to access that order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39BBE-FB02-4EC0-B141-E2A02B62A975}" type="slidenum">
              <a:rPr lang="en-US" altLang="en-US"/>
              <a:pPr/>
              <a:t>27</a:t>
            </a:fld>
            <a:endParaRPr lang="en-US" altLang="en-US"/>
          </a:p>
        </p:txBody>
      </p:sp>
      <p:sp>
        <p:nvSpPr>
          <p:cNvPr id="19558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/>
              <a:t>Functional Requirements Example # 5</a:t>
            </a:r>
          </a:p>
        </p:txBody>
      </p:sp>
      <p:sp>
        <p:nvSpPr>
          <p:cNvPr id="195587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The system shall allow customers to return non-perishable items within fifteen days of the purchase.  A customer must present the original sale receipt to return an item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D0232-F562-4C0E-879C-D747AFD73AD0}" type="slidenum">
              <a:rPr lang="en-US" altLang="en-US"/>
              <a:pPr/>
              <a:t>28</a:t>
            </a:fld>
            <a:endParaRPr lang="en-US" altLang="en-US"/>
          </a:p>
        </p:txBody>
      </p:sp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Comments on Examples</a:t>
            </a:r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Notice the level of detail in different  requirements described above.  Some are very detailed compared to others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F309F-DA25-4814-90A5-3DD828BC1B62}" type="slidenum">
              <a:rPr lang="en-US" altLang="en-US"/>
              <a:pPr/>
              <a:t>29</a:t>
            </a:fld>
            <a:endParaRPr lang="en-US" altLang="en-US"/>
          </a:p>
        </p:txBody>
      </p:sp>
      <p:sp>
        <p:nvSpPr>
          <p:cNvPr id="211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Comments on Examples</a:t>
            </a:r>
          </a:p>
        </p:txBody>
      </p:sp>
      <p:sp>
        <p:nvSpPr>
          <p:cNvPr id="211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Notice the ambiguity in the requirement, which uses the term ‘appropriate viewers’</a:t>
            </a:r>
          </a:p>
          <a:p>
            <a:pPr>
              <a:lnSpc>
                <a:spcPct val="90000"/>
              </a:lnSpc>
            </a:pPr>
            <a:endParaRPr lang="en-US" altLang="en-US"/>
          </a:p>
          <a:p>
            <a:pPr>
              <a:lnSpc>
                <a:spcPct val="90000"/>
              </a:lnSpc>
            </a:pPr>
            <a:r>
              <a:rPr lang="en-US" altLang="en-US"/>
              <a:t>This requirement does not mention the formats of documents and types of viewers, which can be used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C7317-7D5A-4D22-B860-861A56D6F887}" type="slidenum">
              <a:rPr lang="en-US" altLang="en-US"/>
              <a:pPr/>
              <a:t>30</a:t>
            </a:fld>
            <a:endParaRPr lang="en-US" altLang="en-US"/>
          </a:p>
        </p:txBody>
      </p:sp>
      <p:sp>
        <p:nvSpPr>
          <p:cNvPr id="196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Comments on Examples</a:t>
            </a:r>
          </a:p>
        </p:txBody>
      </p:sp>
      <p:sp>
        <p:nvSpPr>
          <p:cNvPr id="196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Notice the ambiguity in the requirement for solving the quadratic equation.  The requirement does not speak about the possibility when the value of ‘a’ is zero</a:t>
            </a:r>
          </a:p>
          <a:p>
            <a:pPr>
              <a:lnSpc>
                <a:spcPct val="90000"/>
              </a:lnSpc>
            </a:pPr>
            <a:endParaRPr lang="en-US" altLang="en-US"/>
          </a:p>
          <a:p>
            <a:pPr algn="ctr">
              <a:lnSpc>
                <a:spcPct val="90000"/>
              </a:lnSpc>
              <a:buFontTx/>
              <a:buNone/>
            </a:pPr>
            <a:r>
              <a:rPr lang="en-US" altLang="en-US" sz="4400"/>
              <a:t>x = (-b</a:t>
            </a:r>
            <a:r>
              <a:rPr lang="en-US" altLang="en-US" sz="4400" u="sng"/>
              <a:t>+</a:t>
            </a:r>
            <a:r>
              <a:rPr lang="en-US" altLang="en-US" sz="4400"/>
              <a:t>sqrt(b</a:t>
            </a:r>
            <a:r>
              <a:rPr lang="en-US" altLang="en-US" sz="4400" baseline="30000"/>
              <a:t>2</a:t>
            </a:r>
            <a:r>
              <a:rPr lang="en-US" altLang="en-US" sz="4400"/>
              <a:t> – 4*a*c))/2*a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FB17-A08C-45CB-8E50-9EDD7D59380F}" type="slidenum">
              <a:rPr lang="en-US" altLang="en-US"/>
              <a:pPr/>
              <a:t>31</a:t>
            </a:fld>
            <a:endParaRPr lang="en-US" altLang="en-US"/>
          </a:p>
        </p:txBody>
      </p:sp>
      <p:sp>
        <p:nvSpPr>
          <p:cNvPr id="212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Comments on Examples</a:t>
            </a:r>
          </a:p>
        </p:txBody>
      </p:sp>
      <p:sp>
        <p:nvSpPr>
          <p:cNvPr id="212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Incomplete and ambiguous requirements are open to multiple interpretations and assumptions</a:t>
            </a:r>
          </a:p>
          <a:p>
            <a:pPr>
              <a:lnSpc>
                <a:spcPct val="90000"/>
              </a:lnSpc>
            </a:pPr>
            <a:endParaRPr lang="en-US" altLang="en-US"/>
          </a:p>
          <a:p>
            <a:pPr>
              <a:lnSpc>
                <a:spcPct val="90000"/>
              </a:lnSpc>
            </a:pPr>
            <a:r>
              <a:rPr lang="en-US" altLang="en-US"/>
              <a:t>This can lead to the development of poor quality, or faulty, software products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D6AEC-BD43-4829-9AE7-490260900295}" type="slidenum">
              <a:rPr lang="en-US" altLang="en-US"/>
              <a:pPr/>
              <a:t>32</a:t>
            </a:fld>
            <a:endParaRPr lang="en-US" altLang="en-US"/>
          </a:p>
        </p:txBody>
      </p:sp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Summary</a:t>
            </a:r>
          </a:p>
        </p:txBody>
      </p:sp>
      <p:sp>
        <p:nvSpPr>
          <p:cNvPr id="154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Requirements form the basis of all software engineering projects</a:t>
            </a:r>
          </a:p>
          <a:p>
            <a:pPr>
              <a:lnSpc>
                <a:spcPct val="90000"/>
              </a:lnSpc>
            </a:pPr>
            <a:r>
              <a:rPr lang="en-US" altLang="en-US"/>
              <a:t>Functional requirements capture the behavioral aspects/functions of the proposed automated system</a:t>
            </a:r>
          </a:p>
          <a:p>
            <a:pPr>
              <a:lnSpc>
                <a:spcPct val="90000"/>
              </a:lnSpc>
            </a:pPr>
            <a:r>
              <a:rPr lang="en-US" altLang="en-US"/>
              <a:t>Functional requirements are the backbone of all software products</a:t>
            </a:r>
          </a:p>
          <a:p>
            <a:pPr>
              <a:lnSpc>
                <a:spcPct val="90000"/>
              </a:lnSpc>
            </a:pPr>
            <a:endParaRPr lang="en-US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D604C-FF2B-410E-A721-A5E1E77A88EB}" type="slidenum">
              <a:rPr lang="en-US" altLang="en-US"/>
              <a:pPr/>
              <a:t>33</a:t>
            </a:fld>
            <a:endParaRPr lang="en-US" altLang="en-US"/>
          </a:p>
        </p:txBody>
      </p:sp>
      <p:sp>
        <p:nvSpPr>
          <p:cNvPr id="155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References</a:t>
            </a:r>
          </a:p>
        </p:txBody>
      </p:sp>
      <p:sp>
        <p:nvSpPr>
          <p:cNvPr id="155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3200" dirty="0"/>
              <a:t>‘Requirements Engineering: Processes and Techniques’ by G. </a:t>
            </a:r>
            <a:r>
              <a:rPr lang="en-US" altLang="en-US" sz="3200" dirty="0" err="1"/>
              <a:t>Kotonya</a:t>
            </a:r>
            <a:r>
              <a:rPr lang="en-US" altLang="en-US" sz="3200" dirty="0"/>
              <a:t> and I. </a:t>
            </a:r>
            <a:r>
              <a:rPr lang="en-US" altLang="en-US" sz="3200" dirty="0" err="1"/>
              <a:t>Sommerville</a:t>
            </a:r>
            <a:r>
              <a:rPr lang="en-US" altLang="en-US" sz="3200" dirty="0"/>
              <a:t>, John Wiley &amp; Sons, 1998</a:t>
            </a:r>
          </a:p>
          <a:p>
            <a:pPr>
              <a:lnSpc>
                <a:spcPct val="90000"/>
              </a:lnSpc>
            </a:pPr>
            <a:r>
              <a:rPr lang="en-US" altLang="en-US" sz="3200" dirty="0">
                <a:cs typeface="Times New Roman" panose="02020603050405020304" pitchFamily="18" charset="0"/>
              </a:rPr>
              <a:t>Software Requirements: Objects, Functions, and States by A. Davis, PH, 1993</a:t>
            </a:r>
            <a:r>
              <a:rPr lang="en-US" altLang="en-US" sz="3200" dirty="0"/>
              <a:t> </a:t>
            </a:r>
          </a:p>
          <a:p>
            <a:pPr>
              <a:lnSpc>
                <a:spcPct val="90000"/>
              </a:lnSpc>
            </a:pPr>
            <a:r>
              <a:rPr lang="en-US" altLang="en-US" sz="3200" dirty="0"/>
              <a:t>Software Engineering 6</a:t>
            </a:r>
            <a:r>
              <a:rPr lang="en-US" altLang="en-US" sz="3200" baseline="30000" dirty="0"/>
              <a:t>th</a:t>
            </a:r>
            <a:r>
              <a:rPr lang="en-US" altLang="en-US" sz="3200" dirty="0"/>
              <a:t> Edition, by I. </a:t>
            </a:r>
            <a:r>
              <a:rPr lang="en-US" altLang="en-US" sz="3200" dirty="0" err="1"/>
              <a:t>Sommerville</a:t>
            </a:r>
            <a:r>
              <a:rPr lang="en-US" altLang="en-US" sz="3200" dirty="0"/>
              <a:t>, 2000</a:t>
            </a:r>
          </a:p>
          <a:p>
            <a:pPr>
              <a:lnSpc>
                <a:spcPct val="90000"/>
              </a:lnSpc>
            </a:pPr>
            <a:r>
              <a:rPr lang="en-US" altLang="en-US" sz="3200" dirty="0"/>
              <a:t>Software Engineering 5</a:t>
            </a:r>
            <a:r>
              <a:rPr lang="en-US" altLang="en-US" sz="3200" baseline="30000" dirty="0"/>
              <a:t>th</a:t>
            </a:r>
            <a:r>
              <a:rPr lang="en-US" altLang="en-US" sz="3200" dirty="0"/>
              <a:t> Edition, by R. Pressman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Default Design 2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8945</TotalTime>
  <Words>927</Words>
  <Application>Microsoft Office PowerPoint</Application>
  <PresentationFormat>On-screen Show (4:3)</PresentationFormat>
  <Paragraphs>147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ＭＳ Ｐゴシック</vt:lpstr>
      <vt:lpstr>Arial</vt:lpstr>
      <vt:lpstr>Times New Roman</vt:lpstr>
      <vt:lpstr>Default Design</vt:lpstr>
      <vt:lpstr>Software Requirements Engineering </vt:lpstr>
      <vt:lpstr>Introduction</vt:lpstr>
      <vt:lpstr>Software Requirements</vt:lpstr>
      <vt:lpstr>Requirement</vt:lpstr>
      <vt:lpstr>Software Requirements - 1</vt:lpstr>
      <vt:lpstr>Software Requirements - 2</vt:lpstr>
      <vt:lpstr>Software Requirements - 3</vt:lpstr>
      <vt:lpstr>Software Requirements - 4</vt:lpstr>
      <vt:lpstr>IEEE Definition</vt:lpstr>
      <vt:lpstr>Sources of Requirements</vt:lpstr>
      <vt:lpstr>Levels of Software Requirements</vt:lpstr>
      <vt:lpstr>Importance of Software Requirements</vt:lpstr>
      <vt:lpstr>Examples of Requirements - 1</vt:lpstr>
      <vt:lpstr>Examples of Requirements - 2</vt:lpstr>
      <vt:lpstr>Examples of Requirements - 3</vt:lpstr>
      <vt:lpstr>Kinds of Software Requirements</vt:lpstr>
      <vt:lpstr>Kinds of Software Requirements</vt:lpstr>
      <vt:lpstr>Functional Requirements</vt:lpstr>
      <vt:lpstr>Functional Requirements - 1</vt:lpstr>
      <vt:lpstr>Functional Requirements - 2</vt:lpstr>
      <vt:lpstr>Functional Requirements - 3</vt:lpstr>
      <vt:lpstr>Functional Requirements - 4</vt:lpstr>
      <vt:lpstr>Functional Requirements Example # 1</vt:lpstr>
      <vt:lpstr>Functional Requirements Example # 2</vt:lpstr>
      <vt:lpstr>Functional Requirements Example # 3</vt:lpstr>
      <vt:lpstr>Functional Requirements Example # 4</vt:lpstr>
      <vt:lpstr>Functional Requirements Example # 5</vt:lpstr>
      <vt:lpstr>Comments on Examples</vt:lpstr>
      <vt:lpstr>Comments on Examples</vt:lpstr>
      <vt:lpstr>Comments on Examples</vt:lpstr>
      <vt:lpstr>Comments on Examples</vt:lpstr>
      <vt:lpstr>Summary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HAMOOD</dc:creator>
  <cp:lastModifiedBy>Hamood Ur Rehman Durrani</cp:lastModifiedBy>
  <cp:revision>506</cp:revision>
  <dcterms:created xsi:type="dcterms:W3CDTF">2003-08-18T09:26:30Z</dcterms:created>
  <dcterms:modified xsi:type="dcterms:W3CDTF">2026-09-07T04:55:06Z</dcterms:modified>
</cp:coreProperties>
</file>