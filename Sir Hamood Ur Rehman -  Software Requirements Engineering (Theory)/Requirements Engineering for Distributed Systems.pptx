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 want to open with the core claim of this talk, not a definition. When we move from a single machine to a distributed system, we are not just making the implementation harder — we are changing what a requirement itself has to describe. A requirement now has to say what correct behavior looks like when part of the system is unreachable, and that category of statement simply does not exist in single-machine requirements engineering. That is the lens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mechanisms that actually break standard requirements practice, not the usual buzzword list. Without a global clock or shared memory, even the word “state” becomes ambiguous unless we specify ordering explicitly. Partial failure is the normal condition, not the exception, so we have to elicit degraded-mode behavior that stakeholders rarely think to mention. Network unreliability turns latency and partition tolerance into load-bearing constraints rather than polish items. And because components are owned by different teams and evolve independently, tracing a single requirement across the system gets genuinely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 theorem gets treated as trivia far too often. In requirements work, it is a forcing function: it means I cannot let a stakeholder ask for a system that is always consistent and always available, because under a partition that is not on the table. My job is to surface that trade-off during elicitation, not let it surface itself during an incident. This is a real example — a vague cart-consistency requirement that we rewrote, once the trade-off was made explicit, into a precise staleness window everyone actually agreed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systems flip the usual balance between functional and non-functional requirements — the NFRs often are the primary spec. Scalability, fault tolerance, the consistency model, and latency budgets all need to be stated as measurable targets, not adjectives. The hard part is elicitation: business stakeholders think in outcomes, not consistency models, so scenario-based elicitation and misuse-case analysis of failure paths are what actually gets you from ‘it should scale well’ to a number you can test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techniques earn their keep disproportionately on this type of system. Failure-inclusive scenario walkthroughs force stakeholders to answer questions about unreachable services that they would otherwise never raise. Spike-based validation exists because you cannot review a latency or consistency requirement into correctness on paper — you have to build a small piece and measure it. And because requirements here routinely span services owned by different teams, cross-team negotiation has to be run as a formal process, not left to hallway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ground this in one real decision. Amazon’s Dynamo work was driven by an explicit, almost blunt requirement: a shopping-cart write must never be rejected, even during a network partition. Naming that condition explicitly is what pushed the design toward eventual consistency instead of the strong-consistency instincts most engineers bring from relational databases. If that requirement had stayed as a vague ‘highly available’ NFR, the natural engineering default would have produced a system that rejected exactly the writes the business could not afford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takeaway I want you to leave with: a requirements document for a distributed system is not complete until it specifies what happens when things fail, because failure is not an edge case here — it is a normal operating state. The practical implication for anyone doing this work is simple: if your SRS does not have an explicit degraded-mode section, it is not finished yet.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SOFTWARE REQUIREMENTS ENGINEERING — CASE STUDY</a:t>
            </a:r>
            <a:endParaRPr lang="en-US" sz="1200" dirty="0"/>
          </a:p>
        </p:txBody>
      </p:sp>
      <p:sp>
        <p:nvSpPr>
          <p:cNvPr id="3" name="Text 1"/>
          <p:cNvSpPr txBox="1"/>
          <p:nvPr/>
        </p:nvSpPr>
        <p:spPr>
          <a:xfrm>
            <a:off x="548640" y="868680"/>
            <a:ext cx="6949440" cy="137160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Requirements Engineering for</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Distributed Systems</a:t>
            </a:r>
            <a:endParaRPr lang="en-US" sz="3000" dirty="0"/>
          </a:p>
        </p:txBody>
      </p:sp>
      <p:sp>
        <p:nvSpPr>
          <p:cNvPr id="4" name="Shape 2"/>
          <p:cNvSpPr/>
          <p:nvPr/>
        </p:nvSpPr>
        <p:spPr>
          <a:xfrm>
            <a:off x="548640" y="2331720"/>
            <a:ext cx="54864" cy="1737360"/>
          </a:xfrm>
          <a:prstGeom prst="rect">
            <a:avLst/>
          </a:prstGeom>
          <a:solidFill>
            <a:srgbClr val="E8AA42"/>
          </a:solidFill>
          <a:ln/>
        </p:spPr>
      </p:sp>
      <p:sp>
        <p:nvSpPr>
          <p:cNvPr id="5" name="Text 3"/>
          <p:cNvSpPr txBox="1"/>
          <p:nvPr/>
        </p:nvSpPr>
        <p:spPr>
          <a:xfrm>
            <a:off x="777240" y="2286000"/>
            <a:ext cx="6492240" cy="1188720"/>
          </a:xfrm>
          <a:prstGeom prst="rect">
            <a:avLst/>
          </a:prstGeom>
          <a:noFill/>
          <a:ln/>
        </p:spPr>
        <p:txBody>
          <a:bodyPr wrap="square" lIns="0" tIns="0" rIns="0" bIns="0" rtlCol="0" anchor="ctr"/>
          <a:lstStyle/>
          <a:p>
            <a:pPr indent="0" marL="0">
              <a:lnSpc>
                <a:spcPct val="115000"/>
              </a:lnSpc>
              <a:buNone/>
            </a:pPr>
            <a:r>
              <a:rPr lang="en-US" sz="2100" i="1" dirty="0">
                <a:solidFill>
                  <a:srgbClr val="CADCFC"/>
                </a:solidFill>
                <a:latin typeface="Cambria" pitchFamily="34" charset="0"/>
                <a:ea typeface="Cambria" pitchFamily="34" charset="-122"/>
                <a:cs typeface="Cambria" pitchFamily="34" charset="-120"/>
              </a:rPr>
              <a:t>Distributed systems don’t just add complexity to implementation — they change what a requirement even needs to specify.</a:t>
            </a:r>
            <a:endParaRPr lang="en-US" sz="2100" dirty="0"/>
          </a:p>
        </p:txBody>
      </p:sp>
      <p:sp>
        <p:nvSpPr>
          <p:cNvPr id="6" name="Text 4"/>
          <p:cNvSpPr txBox="1"/>
          <p:nvPr/>
        </p:nvSpPr>
        <p:spPr>
          <a:xfrm>
            <a:off x="777240" y="3657600"/>
            <a:ext cx="6309360" cy="822960"/>
          </a:xfrm>
          <a:prstGeom prst="rect">
            <a:avLst/>
          </a:prstGeom>
          <a:noFill/>
          <a:ln/>
        </p:spPr>
        <p:txBody>
          <a:bodyPr wrap="square" lIns="0" tIns="0" rIns="0" bIns="0" rtlCol="0" anchor="ctr"/>
          <a:lstStyle/>
          <a:p>
            <a:pPr indent="0" marL="0">
              <a:lnSpc>
                <a:spcPct val="120000"/>
              </a:lnSpc>
              <a:buNone/>
            </a:pPr>
            <a:r>
              <a:rPr lang="en-US" sz="1400" dirty="0">
                <a:solidFill>
                  <a:srgbClr val="AEB9DB"/>
                </a:solidFill>
                <a:latin typeface="Calibri" pitchFamily="34" charset="0"/>
                <a:ea typeface="Calibri" pitchFamily="34" charset="-122"/>
                <a:cs typeface="Calibri" pitchFamily="34" charset="-120"/>
              </a:rPr>
              <a:t>“Behavior under partial failure” has no equivalent in a single-machine system. That’s the requirement category this talk is about.</a:t>
            </a:r>
            <a:endParaRPr lang="en-US" sz="1400" dirty="0"/>
          </a:p>
        </p:txBody>
      </p:sp>
      <p:sp>
        <p:nvSpPr>
          <p:cNvPr id="7" name="Shape 5"/>
          <p:cNvSpPr/>
          <p:nvPr/>
        </p:nvSpPr>
        <p:spPr>
          <a:xfrm>
            <a:off x="7863840" y="2011680"/>
            <a:ext cx="2194560" cy="1188720"/>
          </a:xfrm>
          <a:prstGeom prst="line">
            <a:avLst/>
          </a:prstGeom>
          <a:noFill/>
          <a:ln w="19050">
            <a:solidFill>
              <a:srgbClr val="38407A"/>
            </a:solidFill>
            <a:prstDash val="solid"/>
          </a:ln>
        </p:spPr>
      </p:sp>
      <p:sp>
        <p:nvSpPr>
          <p:cNvPr id="8" name="Shape 6"/>
          <p:cNvSpPr/>
          <p:nvPr/>
        </p:nvSpPr>
        <p:spPr>
          <a:xfrm>
            <a:off x="10058400" y="1737360"/>
            <a:ext cx="914400" cy="1463040"/>
          </a:xfrm>
          <a:prstGeom prst="line">
            <a:avLst/>
          </a:prstGeom>
          <a:noFill/>
          <a:ln w="19050">
            <a:solidFill>
              <a:srgbClr val="38407A"/>
            </a:solidFill>
            <a:prstDash val="solid"/>
          </a:ln>
        </p:spPr>
      </p:sp>
      <p:sp>
        <p:nvSpPr>
          <p:cNvPr id="9" name="Shape 7"/>
          <p:cNvSpPr/>
          <p:nvPr/>
        </p:nvSpPr>
        <p:spPr>
          <a:xfrm>
            <a:off x="10058400" y="3200400"/>
            <a:ext cx="1554480" cy="640080"/>
          </a:xfrm>
          <a:prstGeom prst="line">
            <a:avLst/>
          </a:prstGeom>
          <a:noFill/>
          <a:ln w="19050">
            <a:solidFill>
              <a:srgbClr val="38407A"/>
            </a:solidFill>
            <a:prstDash val="solid"/>
          </a:ln>
        </p:spPr>
      </p:sp>
      <p:sp>
        <p:nvSpPr>
          <p:cNvPr id="10" name="Shape 8"/>
          <p:cNvSpPr/>
          <p:nvPr/>
        </p:nvSpPr>
        <p:spPr>
          <a:xfrm>
            <a:off x="8595360" y="3200400"/>
            <a:ext cx="1463040" cy="1463040"/>
          </a:xfrm>
          <a:prstGeom prst="line">
            <a:avLst/>
          </a:prstGeom>
          <a:noFill/>
          <a:ln w="19050">
            <a:solidFill>
              <a:srgbClr val="38407A"/>
            </a:solidFill>
            <a:prstDash val="solid"/>
          </a:ln>
        </p:spPr>
      </p:sp>
      <p:sp>
        <p:nvSpPr>
          <p:cNvPr id="11" name="Shape 9"/>
          <p:cNvSpPr/>
          <p:nvPr/>
        </p:nvSpPr>
        <p:spPr>
          <a:xfrm>
            <a:off x="7863840" y="2011680"/>
            <a:ext cx="731520" cy="2651760"/>
          </a:xfrm>
          <a:prstGeom prst="line">
            <a:avLst/>
          </a:prstGeom>
          <a:noFill/>
          <a:ln w="19050">
            <a:solidFill>
              <a:srgbClr val="38407A"/>
            </a:solidFill>
            <a:prstDash val="solid"/>
          </a:ln>
        </p:spPr>
      </p:sp>
      <p:sp>
        <p:nvSpPr>
          <p:cNvPr id="12" name="Shape 10"/>
          <p:cNvSpPr/>
          <p:nvPr/>
        </p:nvSpPr>
        <p:spPr>
          <a:xfrm>
            <a:off x="10972800" y="1737360"/>
            <a:ext cx="640080" cy="2103120"/>
          </a:xfrm>
          <a:prstGeom prst="line">
            <a:avLst/>
          </a:prstGeom>
          <a:noFill/>
          <a:ln w="19050">
            <a:solidFill>
              <a:srgbClr val="38407A"/>
            </a:solidFill>
            <a:prstDash val="solid"/>
          </a:ln>
        </p:spPr>
      </p:sp>
      <p:sp>
        <p:nvSpPr>
          <p:cNvPr id="13" name="Shape 11"/>
          <p:cNvSpPr/>
          <p:nvPr/>
        </p:nvSpPr>
        <p:spPr>
          <a:xfrm>
            <a:off x="7662672" y="1810512"/>
            <a:ext cx="402336" cy="402336"/>
          </a:xfrm>
          <a:prstGeom prst="ellipse">
            <a:avLst/>
          </a:prstGeom>
          <a:solidFill>
            <a:srgbClr val="CADCFC"/>
          </a:solidFill>
          <a:ln w="25400">
            <a:solidFill>
              <a:srgbClr val="1E2761"/>
            </a:solidFill>
            <a:prstDash val="solid"/>
          </a:ln>
        </p:spPr>
      </p:sp>
      <p:sp>
        <p:nvSpPr>
          <p:cNvPr id="14" name="Shape 12"/>
          <p:cNvSpPr/>
          <p:nvPr/>
        </p:nvSpPr>
        <p:spPr>
          <a:xfrm>
            <a:off x="10771632" y="1536192"/>
            <a:ext cx="402336" cy="402336"/>
          </a:xfrm>
          <a:prstGeom prst="ellipse">
            <a:avLst/>
          </a:prstGeom>
          <a:solidFill>
            <a:srgbClr val="CADCFC"/>
          </a:solidFill>
          <a:ln w="25400">
            <a:solidFill>
              <a:srgbClr val="1E2761"/>
            </a:solidFill>
            <a:prstDash val="solid"/>
          </a:ln>
        </p:spPr>
      </p:sp>
      <p:sp>
        <p:nvSpPr>
          <p:cNvPr id="15" name="Shape 13"/>
          <p:cNvSpPr/>
          <p:nvPr/>
        </p:nvSpPr>
        <p:spPr>
          <a:xfrm>
            <a:off x="11411712" y="3639312"/>
            <a:ext cx="402336" cy="402336"/>
          </a:xfrm>
          <a:prstGeom prst="ellipse">
            <a:avLst/>
          </a:prstGeom>
          <a:solidFill>
            <a:srgbClr val="B5495B"/>
          </a:solidFill>
          <a:ln w="25400">
            <a:solidFill>
              <a:srgbClr val="1E2761"/>
            </a:solidFill>
            <a:prstDash val="solid"/>
          </a:ln>
        </p:spPr>
      </p:sp>
      <p:sp>
        <p:nvSpPr>
          <p:cNvPr id="16" name="Shape 14"/>
          <p:cNvSpPr/>
          <p:nvPr/>
        </p:nvSpPr>
        <p:spPr>
          <a:xfrm>
            <a:off x="8394192" y="4462272"/>
            <a:ext cx="402336" cy="402336"/>
          </a:xfrm>
          <a:prstGeom prst="ellipse">
            <a:avLst/>
          </a:prstGeom>
          <a:solidFill>
            <a:srgbClr val="CADCFC"/>
          </a:solidFill>
          <a:ln w="25400">
            <a:solidFill>
              <a:srgbClr val="1E2761"/>
            </a:solidFill>
            <a:prstDash val="solid"/>
          </a:ln>
        </p:spPr>
      </p:sp>
      <p:sp>
        <p:nvSpPr>
          <p:cNvPr id="17" name="Shape 15"/>
          <p:cNvSpPr/>
          <p:nvPr/>
        </p:nvSpPr>
        <p:spPr>
          <a:xfrm>
            <a:off x="9857232" y="2999232"/>
            <a:ext cx="402336" cy="402336"/>
          </a:xfrm>
          <a:prstGeom prst="ellipse">
            <a:avLst/>
          </a:prstGeom>
          <a:solidFill>
            <a:srgbClr val="CADCFC"/>
          </a:solidFill>
          <a:ln w="25400">
            <a:solidFill>
              <a:srgbClr val="1E2761"/>
            </a:solidFill>
            <a:prstDash val="solid"/>
          </a:ln>
        </p:spPr>
      </p:sp>
      <p:sp>
        <p:nvSpPr>
          <p:cNvPr id="18" name="Text 16"/>
          <p:cNvSpPr txBox="1"/>
          <p:nvPr/>
        </p:nvSpPr>
        <p:spPr>
          <a:xfrm>
            <a:off x="11411712" y="3621024"/>
            <a:ext cx="402336" cy="40233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9" name="Text 17"/>
          <p:cNvSpPr txBox="1"/>
          <p:nvPr/>
        </p:nvSpPr>
        <p:spPr>
          <a:xfrm>
            <a:off x="7589520" y="5120640"/>
            <a:ext cx="4206240" cy="457200"/>
          </a:xfrm>
          <a:prstGeom prst="rect">
            <a:avLst/>
          </a:prstGeom>
          <a:noFill/>
          <a:ln/>
        </p:spPr>
        <p:txBody>
          <a:bodyPr wrap="square" lIns="0" tIns="0" rIns="0" bIns="0" rtlCol="0" anchor="ctr"/>
          <a:lstStyle/>
          <a:p>
            <a:pPr algn="ctr" indent="0" marL="0">
              <a:buNone/>
            </a:pPr>
            <a:r>
              <a:rPr lang="en-US" sz="1100" i="1" dirty="0">
                <a:solidFill>
                  <a:srgbClr val="8FA0D6"/>
                </a:solidFill>
                <a:latin typeface="Calibri" pitchFamily="34" charset="0"/>
                <a:ea typeface="Calibri" pitchFamily="34" charset="-122"/>
                <a:cs typeface="Calibri" pitchFamily="34" charset="-120"/>
              </a:rPr>
              <a:t>one node down — the rest must still specify correct behavior</a:t>
            </a:r>
            <a:endParaRPr lang="en-US" sz="1100" dirty="0"/>
          </a:p>
        </p:txBody>
      </p:sp>
      <p:sp>
        <p:nvSpPr>
          <p:cNvPr id="20" name="Text 1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spc="100" kern="0" dirty="0">
                <a:solidFill>
                  <a:srgbClr val="CADCFC"/>
                </a:solidFill>
                <a:latin typeface="Calibri" pitchFamily="34" charset="0"/>
                <a:ea typeface="Calibri" pitchFamily="34" charset="-122"/>
                <a:cs typeface="Calibri" pitchFamily="34" charset="-120"/>
              </a:rPr>
              <a:t>REQUIREMENTS ENGINEERING FOR DISTRIBUTED SYSTEMS</a:t>
            </a:r>
            <a:endParaRPr lang="en-US" sz="900" dirty="0"/>
          </a:p>
        </p:txBody>
      </p:sp>
      <p:sp>
        <p:nvSpPr>
          <p:cNvPr id="21" name="Text 19"/>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WHERE STANDARD RE PRACTICE BREAKS DOWN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Four Fault Lines That Break Standard Requirements Practice</a:t>
            </a:r>
            <a:endParaRPr lang="en-US" sz="2700" dirty="0"/>
          </a:p>
        </p:txBody>
      </p:sp>
      <p:sp>
        <p:nvSpPr>
          <p:cNvPr id="4" name="Shape 2"/>
          <p:cNvSpPr/>
          <p:nvPr/>
        </p:nvSpPr>
        <p:spPr>
          <a:xfrm>
            <a:off x="548640" y="1783080"/>
            <a:ext cx="5257800" cy="2194560"/>
          </a:xfrm>
          <a:prstGeom prst="roundRect">
            <a:avLst>
              <a:gd name="adj" fmla="val 3333"/>
            </a:avLst>
          </a:prstGeom>
          <a:solidFill>
            <a:srgbClr val="FFFFFF"/>
          </a:solidFill>
          <a:ln w="12700">
            <a:solidFill>
              <a:srgbClr val="D8DEEC"/>
            </a:solidFill>
            <a:prstDash val="solid"/>
          </a:ln>
          <a:effectLst>
            <a:outerShdw sx="100000" sy="100000" kx="0" ky="0" algn="bl" rotWithShape="0" blurRad="101600" dist="38100" dir="5400000">
              <a:srgbClr val="1E2761">
                <a:alpha val="12000"/>
              </a:srgbClr>
            </a:outerShdw>
          </a:effectLst>
        </p:spPr>
      </p:sp>
      <p:sp>
        <p:nvSpPr>
          <p:cNvPr id="5" name="Shape 3"/>
          <p:cNvSpPr/>
          <p:nvPr/>
        </p:nvSpPr>
        <p:spPr>
          <a:xfrm>
            <a:off x="822960" y="2057400"/>
            <a:ext cx="502920" cy="502920"/>
          </a:xfrm>
          <a:prstGeom prst="ellipse">
            <a:avLst/>
          </a:prstGeom>
          <a:solidFill>
            <a:srgbClr val="1E2761"/>
          </a:solidFill>
          <a:ln/>
        </p:spPr>
      </p:sp>
      <p:sp>
        <p:nvSpPr>
          <p:cNvPr id="6" name="Text 4"/>
          <p:cNvSpPr txBox="1"/>
          <p:nvPr/>
        </p:nvSpPr>
        <p:spPr>
          <a:xfrm>
            <a:off x="8229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7" name="Text 5"/>
          <p:cNvSpPr txBox="1"/>
          <p:nvPr/>
        </p:nvSpPr>
        <p:spPr>
          <a:xfrm>
            <a:off x="1508760" y="2039112"/>
            <a:ext cx="4023360" cy="5486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No Global Clock, No Shared Memory</a:t>
            </a:r>
            <a:endParaRPr lang="en-US" sz="1500" dirty="0"/>
          </a:p>
        </p:txBody>
      </p:sp>
      <p:sp>
        <p:nvSpPr>
          <p:cNvPr id="8" name="Text 6"/>
          <p:cNvSpPr txBox="1"/>
          <p:nvPr/>
        </p:nvSpPr>
        <p:spPr>
          <a:xfrm>
            <a:off x="822960" y="2697480"/>
            <a:ext cx="4709160" cy="1051560"/>
          </a:xfrm>
          <a:prstGeom prst="rect">
            <a:avLst/>
          </a:prstGeom>
          <a:noFill/>
          <a:ln/>
        </p:spPr>
        <p:txBody>
          <a:bodyPr wrap="square" lIns="0" tIns="0" rIns="0" bIns="0" rtlCol="0" anchor="ctr"/>
          <a:lstStyle/>
          <a:p>
            <a:pPr indent="0" marL="0">
              <a:lnSpc>
                <a:spcPct val="118000"/>
              </a:lnSpc>
              <a:buNone/>
            </a:pPr>
            <a:r>
              <a:rPr lang="en-US" sz="1250" dirty="0">
                <a:solidFill>
                  <a:srgbClr val="333A4D"/>
                </a:solidFill>
                <a:latin typeface="Calibri" pitchFamily="34" charset="0"/>
                <a:ea typeface="Calibri" pitchFamily="34" charset="-122"/>
                <a:cs typeface="Calibri" pitchFamily="34" charset="-120"/>
              </a:rPr>
              <a:t>There is no single authoritative “now.” Specifying “state” or “order of events” as a requirement becomes genuinely ambiguous — you must define ordering guarantees explicitly, not assume them.</a:t>
            </a:r>
            <a:endParaRPr lang="en-US" sz="1250" dirty="0"/>
          </a:p>
        </p:txBody>
      </p:sp>
      <p:sp>
        <p:nvSpPr>
          <p:cNvPr id="9" name="Shape 7"/>
          <p:cNvSpPr/>
          <p:nvPr/>
        </p:nvSpPr>
        <p:spPr>
          <a:xfrm>
            <a:off x="6172200" y="1783080"/>
            <a:ext cx="5257800" cy="2194560"/>
          </a:xfrm>
          <a:prstGeom prst="roundRect">
            <a:avLst>
              <a:gd name="adj" fmla="val 3333"/>
            </a:avLst>
          </a:prstGeom>
          <a:solidFill>
            <a:srgbClr val="FFFFFF"/>
          </a:solidFill>
          <a:ln w="12700">
            <a:solidFill>
              <a:srgbClr val="D8DEEC"/>
            </a:solidFill>
            <a:prstDash val="solid"/>
          </a:ln>
          <a:effectLst>
            <a:outerShdw sx="100000" sy="100000" kx="0" ky="0" algn="bl" rotWithShape="0" blurRad="101600" dist="38100" dir="5400000">
              <a:srgbClr val="1E2761">
                <a:alpha val="12000"/>
              </a:srgbClr>
            </a:outerShdw>
          </a:effectLst>
        </p:spPr>
      </p:sp>
      <p:sp>
        <p:nvSpPr>
          <p:cNvPr id="10" name="Shape 8"/>
          <p:cNvSpPr/>
          <p:nvPr/>
        </p:nvSpPr>
        <p:spPr>
          <a:xfrm>
            <a:off x="6446520" y="2057400"/>
            <a:ext cx="502920" cy="502920"/>
          </a:xfrm>
          <a:prstGeom prst="ellipse">
            <a:avLst/>
          </a:prstGeom>
          <a:solidFill>
            <a:srgbClr val="1E2761"/>
          </a:solidFill>
          <a:ln/>
        </p:spPr>
      </p:sp>
      <p:sp>
        <p:nvSpPr>
          <p:cNvPr id="11" name="Text 9"/>
          <p:cNvSpPr txBox="1"/>
          <p:nvPr/>
        </p:nvSpPr>
        <p:spPr>
          <a:xfrm>
            <a:off x="64465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2" name="Text 10"/>
          <p:cNvSpPr txBox="1"/>
          <p:nvPr/>
        </p:nvSpPr>
        <p:spPr>
          <a:xfrm>
            <a:off x="7132320" y="2039112"/>
            <a:ext cx="4023360" cy="5486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Partial Failure Is the Default, Not the Exception</a:t>
            </a:r>
            <a:endParaRPr lang="en-US" sz="1500" dirty="0"/>
          </a:p>
        </p:txBody>
      </p:sp>
      <p:sp>
        <p:nvSpPr>
          <p:cNvPr id="13" name="Text 11"/>
          <p:cNvSpPr txBox="1"/>
          <p:nvPr/>
        </p:nvSpPr>
        <p:spPr>
          <a:xfrm>
            <a:off x="6446520" y="2697480"/>
            <a:ext cx="4709160" cy="1051560"/>
          </a:xfrm>
          <a:prstGeom prst="rect">
            <a:avLst/>
          </a:prstGeom>
          <a:noFill/>
          <a:ln/>
        </p:spPr>
        <p:txBody>
          <a:bodyPr wrap="square" lIns="0" tIns="0" rIns="0" bIns="0" rtlCol="0" anchor="ctr"/>
          <a:lstStyle/>
          <a:p>
            <a:pPr indent="0" marL="0">
              <a:lnSpc>
                <a:spcPct val="118000"/>
              </a:lnSpc>
              <a:buNone/>
            </a:pPr>
            <a:r>
              <a:rPr lang="en-US" sz="1250" dirty="0">
                <a:solidFill>
                  <a:srgbClr val="333A4D"/>
                </a:solidFill>
                <a:latin typeface="Calibri" pitchFamily="34" charset="0"/>
                <a:ea typeface="Calibri" pitchFamily="34" charset="-122"/>
                <a:cs typeface="Calibri" pitchFamily="34" charset="-120"/>
              </a:rPr>
              <a:t>Some nodes will be up while others are down. Requirements must define acceptable degraded behavior — and stakeholders almost never volunteer this unprompted.</a:t>
            </a:r>
            <a:endParaRPr lang="en-US" sz="1250" dirty="0"/>
          </a:p>
        </p:txBody>
      </p:sp>
      <p:sp>
        <p:nvSpPr>
          <p:cNvPr id="14" name="Shape 12"/>
          <p:cNvSpPr/>
          <p:nvPr/>
        </p:nvSpPr>
        <p:spPr>
          <a:xfrm>
            <a:off x="548640" y="4069080"/>
            <a:ext cx="5257800" cy="2194560"/>
          </a:xfrm>
          <a:prstGeom prst="roundRect">
            <a:avLst>
              <a:gd name="adj" fmla="val 3333"/>
            </a:avLst>
          </a:prstGeom>
          <a:solidFill>
            <a:srgbClr val="FFFFFF"/>
          </a:solidFill>
          <a:ln w="12700">
            <a:solidFill>
              <a:srgbClr val="D8DEEC"/>
            </a:solidFill>
            <a:prstDash val="solid"/>
          </a:ln>
          <a:effectLst>
            <a:outerShdw sx="100000" sy="100000" kx="0" ky="0" algn="bl" rotWithShape="0" blurRad="101600" dist="38100" dir="5400000">
              <a:srgbClr val="1E2761">
                <a:alpha val="12000"/>
              </a:srgbClr>
            </a:outerShdw>
          </a:effectLst>
        </p:spPr>
      </p:sp>
      <p:sp>
        <p:nvSpPr>
          <p:cNvPr id="15" name="Shape 13"/>
          <p:cNvSpPr/>
          <p:nvPr/>
        </p:nvSpPr>
        <p:spPr>
          <a:xfrm>
            <a:off x="822960" y="4343400"/>
            <a:ext cx="502920" cy="502920"/>
          </a:xfrm>
          <a:prstGeom prst="ellipse">
            <a:avLst/>
          </a:prstGeom>
          <a:solidFill>
            <a:srgbClr val="1E2761"/>
          </a:solidFill>
          <a:ln/>
        </p:spPr>
      </p:sp>
      <p:sp>
        <p:nvSpPr>
          <p:cNvPr id="16" name="Text 14"/>
          <p:cNvSpPr txBox="1"/>
          <p:nvPr/>
        </p:nvSpPr>
        <p:spPr>
          <a:xfrm>
            <a:off x="822960" y="4343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7" name="Text 15"/>
          <p:cNvSpPr txBox="1"/>
          <p:nvPr/>
        </p:nvSpPr>
        <p:spPr>
          <a:xfrm>
            <a:off x="1508760" y="4325112"/>
            <a:ext cx="4023360" cy="5486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Network Unreliability Is Load-Bearing</a:t>
            </a:r>
            <a:endParaRPr lang="en-US" sz="1500" dirty="0"/>
          </a:p>
        </p:txBody>
      </p:sp>
      <p:sp>
        <p:nvSpPr>
          <p:cNvPr id="18" name="Text 16"/>
          <p:cNvSpPr txBox="1"/>
          <p:nvPr/>
        </p:nvSpPr>
        <p:spPr>
          <a:xfrm>
            <a:off x="822960" y="4983480"/>
            <a:ext cx="4709160" cy="1051560"/>
          </a:xfrm>
          <a:prstGeom prst="rect">
            <a:avLst/>
          </a:prstGeom>
          <a:noFill/>
          <a:ln/>
        </p:spPr>
        <p:txBody>
          <a:bodyPr wrap="square" lIns="0" tIns="0" rIns="0" bIns="0" rtlCol="0" anchor="ctr"/>
          <a:lstStyle/>
          <a:p>
            <a:pPr indent="0" marL="0">
              <a:lnSpc>
                <a:spcPct val="118000"/>
              </a:lnSpc>
              <a:buNone/>
            </a:pPr>
            <a:r>
              <a:rPr lang="en-US" sz="1250" dirty="0">
                <a:solidFill>
                  <a:srgbClr val="333A4D"/>
                </a:solidFill>
                <a:latin typeface="Calibri" pitchFamily="34" charset="0"/>
                <a:ea typeface="Calibri" pitchFamily="34" charset="-122"/>
                <a:cs typeface="Calibri" pitchFamily="34" charset="-120"/>
              </a:rPr>
              <a:t>Latency and partition tolerance stop being “nice to have” non-functional notes. They are structural constraints the functional requirements depend on.</a:t>
            </a:r>
            <a:endParaRPr lang="en-US" sz="1250" dirty="0"/>
          </a:p>
        </p:txBody>
      </p:sp>
      <p:sp>
        <p:nvSpPr>
          <p:cNvPr id="19" name="Shape 17"/>
          <p:cNvSpPr/>
          <p:nvPr/>
        </p:nvSpPr>
        <p:spPr>
          <a:xfrm>
            <a:off x="6172200" y="4069080"/>
            <a:ext cx="5257800" cy="2194560"/>
          </a:xfrm>
          <a:prstGeom prst="roundRect">
            <a:avLst>
              <a:gd name="adj" fmla="val 3333"/>
            </a:avLst>
          </a:prstGeom>
          <a:solidFill>
            <a:srgbClr val="FFFFFF"/>
          </a:solidFill>
          <a:ln w="12700">
            <a:solidFill>
              <a:srgbClr val="D8DEEC"/>
            </a:solidFill>
            <a:prstDash val="solid"/>
          </a:ln>
          <a:effectLst>
            <a:outerShdw sx="100000" sy="100000" kx="0" ky="0" algn="bl" rotWithShape="0" blurRad="101600" dist="38100" dir="5400000">
              <a:srgbClr val="1E2761">
                <a:alpha val="12000"/>
              </a:srgbClr>
            </a:outerShdw>
          </a:effectLst>
        </p:spPr>
      </p:sp>
      <p:sp>
        <p:nvSpPr>
          <p:cNvPr id="20" name="Shape 18"/>
          <p:cNvSpPr/>
          <p:nvPr/>
        </p:nvSpPr>
        <p:spPr>
          <a:xfrm>
            <a:off x="6446520" y="4343400"/>
            <a:ext cx="502920" cy="502920"/>
          </a:xfrm>
          <a:prstGeom prst="ellipse">
            <a:avLst/>
          </a:prstGeom>
          <a:solidFill>
            <a:srgbClr val="1E2761"/>
          </a:solidFill>
          <a:ln/>
        </p:spPr>
      </p:sp>
      <p:sp>
        <p:nvSpPr>
          <p:cNvPr id="21" name="Text 19"/>
          <p:cNvSpPr txBox="1"/>
          <p:nvPr/>
        </p:nvSpPr>
        <p:spPr>
          <a:xfrm>
            <a:off x="6446520" y="4343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22" name="Text 20"/>
          <p:cNvSpPr txBox="1"/>
          <p:nvPr/>
        </p:nvSpPr>
        <p:spPr>
          <a:xfrm>
            <a:off x="7132320" y="4325112"/>
            <a:ext cx="4023360" cy="5486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Independently-Evolving, Team-Owned Components</a:t>
            </a:r>
            <a:endParaRPr lang="en-US" sz="1500" dirty="0"/>
          </a:p>
        </p:txBody>
      </p:sp>
      <p:sp>
        <p:nvSpPr>
          <p:cNvPr id="23" name="Text 21"/>
          <p:cNvSpPr txBox="1"/>
          <p:nvPr/>
        </p:nvSpPr>
        <p:spPr>
          <a:xfrm>
            <a:off x="6446520" y="4983480"/>
            <a:ext cx="4709160" cy="1051560"/>
          </a:xfrm>
          <a:prstGeom prst="rect">
            <a:avLst/>
          </a:prstGeom>
          <a:noFill/>
          <a:ln/>
        </p:spPr>
        <p:txBody>
          <a:bodyPr wrap="square" lIns="0" tIns="0" rIns="0" bIns="0" rtlCol="0" anchor="ctr"/>
          <a:lstStyle/>
          <a:p>
            <a:pPr indent="0" marL="0">
              <a:lnSpc>
                <a:spcPct val="118000"/>
              </a:lnSpc>
              <a:buNone/>
            </a:pPr>
            <a:r>
              <a:rPr lang="en-US" sz="1250" dirty="0">
                <a:solidFill>
                  <a:srgbClr val="333A4D"/>
                </a:solidFill>
                <a:latin typeface="Calibri" pitchFamily="34" charset="0"/>
                <a:ea typeface="Calibri" pitchFamily="34" charset="-122"/>
                <a:cs typeface="Calibri" pitchFamily="34" charset="-120"/>
              </a:rPr>
              <a:t>A single requirement can cut across services owned by different teams. Traceability and change-impact analysis have to operate across organizational boundaries.</a:t>
            </a:r>
            <a:endParaRPr lang="en-US" sz="1250" dirty="0"/>
          </a:p>
        </p:txBody>
      </p:sp>
      <p:sp>
        <p:nvSpPr>
          <p:cNvPr id="24" name="Text 2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spc="100" kern="0" dirty="0">
                <a:solidFill>
                  <a:srgbClr val="8892A8"/>
                </a:solidFill>
                <a:latin typeface="Calibri" pitchFamily="34" charset="0"/>
                <a:ea typeface="Calibri" pitchFamily="34" charset="-122"/>
                <a:cs typeface="Calibri" pitchFamily="34" charset="-120"/>
              </a:rPr>
              <a:t>REQUIREMENTS ENGINEERING FOR DISTRIBUTED SYSTEMS</a:t>
            </a:r>
            <a:endParaRPr lang="en-US" sz="900" dirty="0"/>
          </a:p>
        </p:txBody>
      </p:sp>
      <p:sp>
        <p:nvSpPr>
          <p:cNvPr id="25" name="Text 2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8892A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C"/>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FORCING THE TRADE-OFF INTO ELICITATION</a:t>
            </a:r>
            <a:endParaRPr lang="en-US" sz="1200" dirty="0"/>
          </a:p>
        </p:txBody>
      </p:sp>
      <p:sp>
        <p:nvSpPr>
          <p:cNvPr id="3" name="Text 1"/>
          <p:cNvSpPr txBox="1"/>
          <p:nvPr/>
        </p:nvSpPr>
        <p:spPr>
          <a:xfrm>
            <a:off x="548640" y="685800"/>
            <a:ext cx="11064240" cy="7772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CAP Isn’t Trivia — It’s a Forcing Function in Elicitation</a:t>
            </a:r>
            <a:endParaRPr lang="en-US" sz="2400" dirty="0"/>
          </a:p>
        </p:txBody>
      </p:sp>
      <p:sp>
        <p:nvSpPr>
          <p:cNvPr id="4" name="Shape 2"/>
          <p:cNvSpPr/>
          <p:nvPr/>
        </p:nvSpPr>
        <p:spPr>
          <a:xfrm flipV="1">
            <a:off x="1396746" y="1828800"/>
            <a:ext cx="1346454" cy="2409444"/>
          </a:xfrm>
          <a:prstGeom prst="line">
            <a:avLst/>
          </a:prstGeom>
          <a:noFill/>
          <a:ln w="31750">
            <a:solidFill>
              <a:srgbClr val="1E2761"/>
            </a:solidFill>
            <a:prstDash val="solid"/>
          </a:ln>
        </p:spPr>
      </p:sp>
      <p:sp>
        <p:nvSpPr>
          <p:cNvPr id="5" name="Shape 3"/>
          <p:cNvSpPr/>
          <p:nvPr/>
        </p:nvSpPr>
        <p:spPr>
          <a:xfrm>
            <a:off x="2743200" y="1828800"/>
            <a:ext cx="1346454" cy="2409444"/>
          </a:xfrm>
          <a:prstGeom prst="line">
            <a:avLst/>
          </a:prstGeom>
          <a:noFill/>
          <a:ln w="31750">
            <a:solidFill>
              <a:srgbClr val="1E2761"/>
            </a:solidFill>
            <a:prstDash val="solid"/>
          </a:ln>
        </p:spPr>
      </p:sp>
      <p:sp>
        <p:nvSpPr>
          <p:cNvPr id="6" name="Shape 4"/>
          <p:cNvSpPr/>
          <p:nvPr/>
        </p:nvSpPr>
        <p:spPr>
          <a:xfrm>
            <a:off x="1396746" y="4238244"/>
            <a:ext cx="2692908" cy="9144"/>
          </a:xfrm>
          <a:prstGeom prst="line">
            <a:avLst/>
          </a:prstGeom>
          <a:noFill/>
          <a:ln w="31750">
            <a:solidFill>
              <a:srgbClr val="1E2761"/>
            </a:solidFill>
            <a:prstDash val="solid"/>
          </a:ln>
        </p:spPr>
      </p:sp>
      <p:sp>
        <p:nvSpPr>
          <p:cNvPr id="7" name="Shape 5"/>
          <p:cNvSpPr/>
          <p:nvPr/>
        </p:nvSpPr>
        <p:spPr>
          <a:xfrm>
            <a:off x="2377440" y="1463040"/>
            <a:ext cx="731520" cy="731520"/>
          </a:xfrm>
          <a:prstGeom prst="ellipse">
            <a:avLst/>
          </a:prstGeom>
          <a:solidFill>
            <a:srgbClr val="1E2761"/>
          </a:solidFill>
          <a:ln w="25400">
            <a:solidFill>
              <a:srgbClr val="FFFFFF"/>
            </a:solidFill>
            <a:prstDash val="solid"/>
          </a:ln>
        </p:spPr>
      </p:sp>
      <p:sp>
        <p:nvSpPr>
          <p:cNvPr id="8" name="Text 6"/>
          <p:cNvSpPr txBox="1"/>
          <p:nvPr/>
        </p:nvSpPr>
        <p:spPr>
          <a:xfrm>
            <a:off x="2377440" y="146304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9" name="Shape 7"/>
          <p:cNvSpPr/>
          <p:nvPr/>
        </p:nvSpPr>
        <p:spPr>
          <a:xfrm>
            <a:off x="1030986" y="3872484"/>
            <a:ext cx="731520" cy="731520"/>
          </a:xfrm>
          <a:prstGeom prst="ellipse">
            <a:avLst/>
          </a:prstGeom>
          <a:solidFill>
            <a:srgbClr val="1E2761"/>
          </a:solidFill>
          <a:ln w="25400">
            <a:solidFill>
              <a:srgbClr val="FFFFFF"/>
            </a:solidFill>
            <a:prstDash val="solid"/>
          </a:ln>
        </p:spPr>
      </p:sp>
      <p:sp>
        <p:nvSpPr>
          <p:cNvPr id="10" name="Text 8"/>
          <p:cNvSpPr txBox="1"/>
          <p:nvPr/>
        </p:nvSpPr>
        <p:spPr>
          <a:xfrm>
            <a:off x="1030986" y="3872484"/>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11" name="Shape 9"/>
          <p:cNvSpPr/>
          <p:nvPr/>
        </p:nvSpPr>
        <p:spPr>
          <a:xfrm>
            <a:off x="3723894" y="3872484"/>
            <a:ext cx="731520" cy="731520"/>
          </a:xfrm>
          <a:prstGeom prst="ellipse">
            <a:avLst/>
          </a:prstGeom>
          <a:solidFill>
            <a:srgbClr val="1E2761"/>
          </a:solidFill>
          <a:ln w="25400">
            <a:solidFill>
              <a:srgbClr val="FFFFFF"/>
            </a:solidFill>
            <a:prstDash val="solid"/>
          </a:ln>
        </p:spPr>
      </p:sp>
      <p:sp>
        <p:nvSpPr>
          <p:cNvPr id="12" name="Text 10"/>
          <p:cNvSpPr txBox="1"/>
          <p:nvPr/>
        </p:nvSpPr>
        <p:spPr>
          <a:xfrm>
            <a:off x="3723894" y="3872484"/>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a:t>
            </a:r>
            <a:endParaRPr lang="en-US" sz="1500" dirty="0"/>
          </a:p>
        </p:txBody>
      </p:sp>
      <p:sp>
        <p:nvSpPr>
          <p:cNvPr id="13" name="Text 11"/>
          <p:cNvSpPr txBox="1"/>
          <p:nvPr/>
        </p:nvSpPr>
        <p:spPr>
          <a:xfrm>
            <a:off x="1828800" y="1143000"/>
            <a:ext cx="1828800" cy="320040"/>
          </a:xfrm>
          <a:prstGeom prst="rect">
            <a:avLst/>
          </a:prstGeom>
          <a:noFill/>
          <a:ln/>
        </p:spPr>
        <p:txBody>
          <a:bodyPr wrap="square" lIns="0" tIns="0" rIns="0" bIns="0" rtlCol="0" anchor="ctr"/>
          <a:lstStyle/>
          <a:p>
            <a:pPr algn="ctr" indent="0" marL="0">
              <a:buNone/>
            </a:pPr>
            <a:r>
              <a:rPr lang="en-US" sz="1150" b="1" dirty="0">
                <a:solidFill>
                  <a:srgbClr val="333A4D"/>
                </a:solidFill>
                <a:latin typeface="Calibri" pitchFamily="34" charset="0"/>
                <a:ea typeface="Calibri" pitchFamily="34" charset="-122"/>
                <a:cs typeface="Calibri" pitchFamily="34" charset="-120"/>
              </a:rPr>
              <a:t>Consistency</a:t>
            </a:r>
            <a:endParaRPr lang="en-US" sz="1150" dirty="0"/>
          </a:p>
        </p:txBody>
      </p:sp>
      <p:sp>
        <p:nvSpPr>
          <p:cNvPr id="14" name="Text 12"/>
          <p:cNvSpPr txBox="1"/>
          <p:nvPr/>
        </p:nvSpPr>
        <p:spPr>
          <a:xfrm>
            <a:off x="-477774" y="4055364"/>
            <a:ext cx="1417320" cy="320040"/>
          </a:xfrm>
          <a:prstGeom prst="rect">
            <a:avLst/>
          </a:prstGeom>
          <a:noFill/>
          <a:ln/>
        </p:spPr>
        <p:txBody>
          <a:bodyPr wrap="square" lIns="0" tIns="0" rIns="0" bIns="0" rtlCol="0" anchor="ctr"/>
          <a:lstStyle/>
          <a:p>
            <a:pPr algn="r" indent="0" marL="0">
              <a:buNone/>
            </a:pPr>
            <a:r>
              <a:rPr lang="en-US" sz="1150" b="1" dirty="0">
                <a:solidFill>
                  <a:srgbClr val="333A4D"/>
                </a:solidFill>
                <a:latin typeface="Calibri" pitchFamily="34" charset="0"/>
                <a:ea typeface="Calibri" pitchFamily="34" charset="-122"/>
                <a:cs typeface="Calibri" pitchFamily="34" charset="-120"/>
              </a:rPr>
              <a:t>Availability</a:t>
            </a:r>
            <a:endParaRPr lang="en-US" sz="1150" dirty="0"/>
          </a:p>
        </p:txBody>
      </p:sp>
      <p:sp>
        <p:nvSpPr>
          <p:cNvPr id="15" name="Text 13"/>
          <p:cNvSpPr txBox="1"/>
          <p:nvPr/>
        </p:nvSpPr>
        <p:spPr>
          <a:xfrm>
            <a:off x="4501134" y="3918204"/>
            <a:ext cx="1554480" cy="548640"/>
          </a:xfrm>
          <a:prstGeom prst="rect">
            <a:avLst/>
          </a:prstGeom>
          <a:noFill/>
          <a:ln/>
        </p:spPr>
        <p:txBody>
          <a:bodyPr wrap="square" lIns="0" tIns="0" rIns="0" bIns="0" rtlCol="0" anchor="ctr"/>
          <a:lstStyle/>
          <a:p>
            <a:pPr algn="l" indent="0" marL="0">
              <a:buNone/>
            </a:pPr>
            <a:r>
              <a:rPr lang="en-US" sz="1150" b="1" dirty="0">
                <a:solidFill>
                  <a:srgbClr val="333A4D"/>
                </a:solidFill>
                <a:latin typeface="Calibri" pitchFamily="34" charset="0"/>
                <a:ea typeface="Calibri" pitchFamily="34" charset="-122"/>
                <a:cs typeface="Calibri" pitchFamily="34" charset="-120"/>
              </a:rPr>
              <a:t>Partition</a:t>
            </a:r>
            <a:endParaRPr lang="en-US" sz="1150" dirty="0"/>
          </a:p>
          <a:p>
            <a:pPr algn="l" indent="0" marL="0">
              <a:buNone/>
            </a:pPr>
            <a:r>
              <a:rPr lang="en-US" sz="1150" b="1" dirty="0">
                <a:solidFill>
                  <a:srgbClr val="333A4D"/>
                </a:solidFill>
                <a:latin typeface="Calibri" pitchFamily="34" charset="0"/>
                <a:ea typeface="Calibri" pitchFamily="34" charset="-122"/>
                <a:cs typeface="Calibri" pitchFamily="34" charset="-120"/>
              </a:rPr>
              <a:t>Tolerance</a:t>
            </a:r>
            <a:endParaRPr lang="en-US" sz="1150" dirty="0"/>
          </a:p>
        </p:txBody>
      </p:sp>
      <p:sp>
        <p:nvSpPr>
          <p:cNvPr id="16" name="Text 14"/>
          <p:cNvSpPr txBox="1"/>
          <p:nvPr/>
        </p:nvSpPr>
        <p:spPr>
          <a:xfrm>
            <a:off x="548640" y="5257800"/>
            <a:ext cx="4572000" cy="1234440"/>
          </a:xfrm>
          <a:prstGeom prst="rect">
            <a:avLst/>
          </a:prstGeom>
          <a:noFill/>
          <a:ln/>
        </p:spPr>
        <p:txBody>
          <a:bodyPr wrap="square" lIns="0" tIns="0" rIns="0" bIns="0" rtlCol="0" anchor="ctr"/>
          <a:lstStyle/>
          <a:p>
            <a:pPr indent="0" marL="0">
              <a:lnSpc>
                <a:spcPct val="120000"/>
              </a:lnSpc>
              <a:buNone/>
            </a:pPr>
            <a:r>
              <a:rPr lang="en-US" sz="1250" i="1" dirty="0">
                <a:solidFill>
                  <a:srgbClr val="333A4D"/>
                </a:solidFill>
                <a:latin typeface="Calibri" pitchFamily="34" charset="0"/>
                <a:ea typeface="Calibri" pitchFamily="34" charset="-122"/>
                <a:cs typeface="Calibri" pitchFamily="34" charset="-120"/>
              </a:rPr>
              <a:t>Under a network partition, a stakeholder cannot have both C and A. The requirements engineer’s job is to surface that choice — explicitly — during elicitation, not leave it implicit until an incident.</a:t>
            </a:r>
            <a:endParaRPr lang="en-US" sz="1250" dirty="0"/>
          </a:p>
        </p:txBody>
      </p:sp>
      <p:sp>
        <p:nvSpPr>
          <p:cNvPr id="17" name="Shape 15"/>
          <p:cNvSpPr/>
          <p:nvPr/>
        </p:nvSpPr>
        <p:spPr>
          <a:xfrm>
            <a:off x="6263640" y="1737360"/>
            <a:ext cx="5349240" cy="1554480"/>
          </a:xfrm>
          <a:prstGeom prst="roundRect">
            <a:avLst>
              <a:gd name="adj" fmla="val 4706"/>
            </a:avLst>
          </a:prstGeom>
          <a:solidFill>
            <a:srgbClr val="FFFFFF"/>
          </a:solidFill>
          <a:ln w="19050">
            <a:solidFill>
              <a:srgbClr val="B5495B"/>
            </a:solidFill>
            <a:prstDash val="solid"/>
          </a:ln>
        </p:spPr>
      </p:sp>
      <p:sp>
        <p:nvSpPr>
          <p:cNvPr id="18" name="Text 16"/>
          <p:cNvSpPr txBox="1"/>
          <p:nvPr/>
        </p:nvSpPr>
        <p:spPr>
          <a:xfrm>
            <a:off x="6537960" y="1874520"/>
            <a:ext cx="4800600" cy="274320"/>
          </a:xfrm>
          <a:prstGeom prst="rect">
            <a:avLst/>
          </a:prstGeom>
          <a:noFill/>
          <a:ln/>
        </p:spPr>
        <p:txBody>
          <a:bodyPr wrap="square" lIns="0" tIns="0" rIns="0" bIns="0" rtlCol="0" anchor="ctr"/>
          <a:lstStyle/>
          <a:p>
            <a:pPr indent="0" marL="0">
              <a:buNone/>
            </a:pPr>
            <a:r>
              <a:rPr lang="en-US" sz="1100" b="1" spc="100" kern="0" dirty="0">
                <a:solidFill>
                  <a:srgbClr val="B5495B"/>
                </a:solidFill>
                <a:latin typeface="Calibri" pitchFamily="34" charset="0"/>
                <a:ea typeface="Calibri" pitchFamily="34" charset="-122"/>
                <a:cs typeface="Calibri" pitchFamily="34" charset="-120"/>
              </a:rPr>
              <a:t>BEFORE — TRADE-OFF LEFT IMPLICIT</a:t>
            </a:r>
            <a:endParaRPr lang="en-US" sz="1100" dirty="0"/>
          </a:p>
        </p:txBody>
      </p:sp>
      <p:sp>
        <p:nvSpPr>
          <p:cNvPr id="19" name="Text 17"/>
          <p:cNvSpPr txBox="1"/>
          <p:nvPr/>
        </p:nvSpPr>
        <p:spPr>
          <a:xfrm>
            <a:off x="6537960" y="2194560"/>
            <a:ext cx="4800600" cy="960120"/>
          </a:xfrm>
          <a:prstGeom prst="rect">
            <a:avLst/>
          </a:prstGeom>
          <a:noFill/>
          <a:ln/>
        </p:spPr>
        <p:txBody>
          <a:bodyPr wrap="square" lIns="0" tIns="0" rIns="0" bIns="0" rtlCol="0" anchor="ctr"/>
          <a:lstStyle/>
          <a:p>
            <a:pPr indent="0" marL="0">
              <a:lnSpc>
                <a:spcPct val="115000"/>
              </a:lnSpc>
              <a:buNone/>
            </a:pPr>
            <a:r>
              <a:rPr lang="en-US" sz="1500" i="1" dirty="0">
                <a:solidFill>
                  <a:srgbClr val="1E2761"/>
                </a:solidFill>
                <a:latin typeface="Cambria" pitchFamily="34" charset="0"/>
                <a:ea typeface="Cambria" pitchFamily="34" charset="-122"/>
                <a:cs typeface="Cambria" pitchFamily="34" charset="-120"/>
              </a:rPr>
              <a:t>“The system shall show the same cart contents to all devices instantly.”</a:t>
            </a:r>
            <a:endParaRPr lang="en-US" sz="1500" dirty="0"/>
          </a:p>
        </p:txBody>
      </p:sp>
      <p:sp>
        <p:nvSpPr>
          <p:cNvPr id="20" name="Shape 18"/>
          <p:cNvSpPr/>
          <p:nvPr/>
        </p:nvSpPr>
        <p:spPr>
          <a:xfrm>
            <a:off x="6263640" y="3520440"/>
            <a:ext cx="5349240" cy="1737360"/>
          </a:xfrm>
          <a:prstGeom prst="roundRect">
            <a:avLst>
              <a:gd name="adj" fmla="val 4211"/>
            </a:avLst>
          </a:prstGeom>
          <a:solidFill>
            <a:srgbClr val="FFFFFF"/>
          </a:solidFill>
          <a:ln w="19050">
            <a:solidFill>
              <a:srgbClr val="3E8E7E"/>
            </a:solidFill>
            <a:prstDash val="solid"/>
          </a:ln>
        </p:spPr>
      </p:sp>
      <p:sp>
        <p:nvSpPr>
          <p:cNvPr id="21" name="Text 19"/>
          <p:cNvSpPr txBox="1"/>
          <p:nvPr/>
        </p:nvSpPr>
        <p:spPr>
          <a:xfrm>
            <a:off x="6537960" y="3657600"/>
            <a:ext cx="4800600" cy="274320"/>
          </a:xfrm>
          <a:prstGeom prst="rect">
            <a:avLst/>
          </a:prstGeom>
          <a:noFill/>
          <a:ln/>
        </p:spPr>
        <p:txBody>
          <a:bodyPr wrap="square" lIns="0" tIns="0" rIns="0" bIns="0" rtlCol="0" anchor="ctr"/>
          <a:lstStyle/>
          <a:p>
            <a:pPr indent="0" marL="0">
              <a:buNone/>
            </a:pPr>
            <a:r>
              <a:rPr lang="en-US" sz="1100" b="1" spc="100" kern="0" dirty="0">
                <a:solidFill>
                  <a:srgbClr val="3E8E7E"/>
                </a:solidFill>
                <a:latin typeface="Calibri" pitchFamily="34" charset="0"/>
                <a:ea typeface="Calibri" pitchFamily="34" charset="-122"/>
                <a:cs typeface="Calibri" pitchFamily="34" charset="-120"/>
              </a:rPr>
              <a:t>AFTER — TRADE-OFF SURFACED &amp; NEGOTIATED</a:t>
            </a:r>
            <a:endParaRPr lang="en-US" sz="1100" dirty="0"/>
          </a:p>
        </p:txBody>
      </p:sp>
      <p:sp>
        <p:nvSpPr>
          <p:cNvPr id="22" name="Text 20"/>
          <p:cNvSpPr txBox="1"/>
          <p:nvPr/>
        </p:nvSpPr>
        <p:spPr>
          <a:xfrm>
            <a:off x="6537960" y="3977640"/>
            <a:ext cx="4800600" cy="1188720"/>
          </a:xfrm>
          <a:prstGeom prst="rect">
            <a:avLst/>
          </a:prstGeom>
          <a:noFill/>
          <a:ln/>
        </p:spPr>
        <p:txBody>
          <a:bodyPr wrap="square" lIns="0" tIns="0" rIns="0" bIns="0" rtlCol="0" anchor="ctr"/>
          <a:lstStyle/>
          <a:p>
            <a:pPr indent="0" marL="0">
              <a:lnSpc>
                <a:spcPct val="115000"/>
              </a:lnSpc>
              <a:buNone/>
            </a:pPr>
            <a:r>
              <a:rPr lang="en-US" sz="1450" i="1" dirty="0">
                <a:solidFill>
                  <a:srgbClr val="1E2761"/>
                </a:solidFill>
                <a:latin typeface="Cambria" pitchFamily="34" charset="0"/>
                <a:ea typeface="Cambria" pitchFamily="34" charset="-122"/>
                <a:cs typeface="Cambria" pitchFamily="34" charset="-120"/>
              </a:rPr>
              <a:t>“The system shall converge cart state across a user’s devices within 2 seconds of network recovery, tolerating reads staled by at most 2 seconds during a partition.”</a:t>
            </a:r>
            <a:endParaRPr lang="en-US" sz="1450" dirty="0"/>
          </a:p>
        </p:txBody>
      </p:sp>
      <p:sp>
        <p:nvSpPr>
          <p:cNvPr id="23" name="Text 2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spc="100" kern="0" dirty="0">
                <a:solidFill>
                  <a:srgbClr val="8892A8"/>
                </a:solidFill>
                <a:latin typeface="Calibri" pitchFamily="34" charset="0"/>
                <a:ea typeface="Calibri" pitchFamily="34" charset="-122"/>
                <a:cs typeface="Calibri" pitchFamily="34" charset="-120"/>
              </a:rPr>
              <a:t>REQUIREMENTS ENGINEERING FOR DISTRIBUTED SYSTEMS</a:t>
            </a:r>
            <a:endParaRPr lang="en-US" sz="900" dirty="0"/>
          </a:p>
        </p:txBody>
      </p:sp>
      <p:sp>
        <p:nvSpPr>
          <p:cNvPr id="24" name="Text 22"/>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8892A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THE FUNCTIONAL / NON-FUNCTIONAL RATIO FLIPS</a:t>
            </a:r>
            <a:endParaRPr lang="en-US" sz="1200" dirty="0"/>
          </a:p>
        </p:txBody>
      </p:sp>
      <p:sp>
        <p:nvSpPr>
          <p:cNvPr id="3" name="Text 1"/>
          <p:cNvSpPr txBox="1"/>
          <p:nvPr/>
        </p:nvSpPr>
        <p:spPr>
          <a:xfrm>
            <a:off x="548640" y="685800"/>
            <a:ext cx="11064240" cy="7772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NFRs Aren’t Nice-to-Haves — They’re the Primary Spec</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383280"/>
        </p:xfrm>
        <a:graphic>
          <a:graphicData uri="http://schemas.openxmlformats.org/drawingml/2006/table">
            <a:tbl>
              <a:tblPr/>
              <a:tblGrid>
                <a:gridCol w="2286000"/>
                <a:gridCol w="3657600"/>
                <a:gridCol w="5120640"/>
              </a:tblGrid>
              <a:tr h="67665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NFR</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a stakeholder says</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actually gets written down</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solidFill>
                      <a:srgbClr val="1E2761"/>
                    </a:solidFill>
                  </a:tcPr>
                </a:tc>
              </a:tr>
              <a:tr h="676656">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Scalability</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i="1" dirty="0">
                          <a:solidFill>
                            <a:srgbClr val="B5495B"/>
                          </a:solidFill>
                          <a:latin typeface="Calibri" pitchFamily="34" charset="0"/>
                          <a:ea typeface="Calibri" pitchFamily="34" charset="-122"/>
                          <a:cs typeface="Calibri" pitchFamily="34" charset="-120"/>
                        </a:rPr>
                        <a:t>“It should scale well.”</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dirty="0">
                          <a:solidFill>
                            <a:srgbClr val="3E8E7E"/>
                          </a:solidFill>
                          <a:latin typeface="Calibri" pitchFamily="34" charset="0"/>
                          <a:ea typeface="Calibri" pitchFamily="34" charset="-122"/>
                          <a:cs typeface="Calibri" pitchFamily="34" charset="-120"/>
                        </a:rPr>
                        <a:t>Handle 50,000 req/sec today with linear cost growth to 200,000.</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r h="676656">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Fault Tolerance</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i="1" dirty="0">
                          <a:solidFill>
                            <a:srgbClr val="B5495B"/>
                          </a:solidFill>
                          <a:latin typeface="Calibri" pitchFamily="34" charset="0"/>
                          <a:ea typeface="Calibri" pitchFamily="34" charset="-122"/>
                          <a:cs typeface="Calibri" pitchFamily="34" charset="-120"/>
                        </a:rPr>
                        <a:t>“It should be resilient.”</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dirty="0">
                          <a:solidFill>
                            <a:srgbClr val="3E8E7E"/>
                          </a:solidFill>
                          <a:latin typeface="Calibri" pitchFamily="34" charset="0"/>
                          <a:ea typeface="Calibri" pitchFamily="34" charset="-122"/>
                          <a:cs typeface="Calibri" pitchFamily="34" charset="-120"/>
                        </a:rPr>
                        <a:t>99.95% API availability; degrade to read-only within 5s of a DB partition.</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r h="676656">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Consistency Model</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i="1" dirty="0">
                          <a:solidFill>
                            <a:srgbClr val="B5495B"/>
                          </a:solidFill>
                          <a:latin typeface="Calibri" pitchFamily="34" charset="0"/>
                          <a:ea typeface="Calibri" pitchFamily="34" charset="-122"/>
                          <a:cs typeface="Calibri" pitchFamily="34" charset="-120"/>
                        </a:rPr>
                        <a:t>(assumed — never asked)</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dirty="0">
                          <a:solidFill>
                            <a:srgbClr val="3E8E7E"/>
                          </a:solidFill>
                          <a:latin typeface="Calibri" pitchFamily="34" charset="0"/>
                          <a:ea typeface="Calibri" pitchFamily="34" charset="-122"/>
                          <a:cs typeface="Calibri" pitchFamily="34" charset="-120"/>
                        </a:rPr>
                        <a:t>Eventual consistency, explicit convergence ≤ 2s — negotiated, not defaulted.</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r h="676656">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Latency Budget</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i="1" dirty="0">
                          <a:solidFill>
                            <a:srgbClr val="B5495B"/>
                          </a:solidFill>
                          <a:latin typeface="Calibri" pitchFamily="34" charset="0"/>
                          <a:ea typeface="Calibri" pitchFamily="34" charset="-122"/>
                          <a:cs typeface="Calibri" pitchFamily="34" charset="-120"/>
                        </a:rPr>
                        <a:t>“It should feel fast.”</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300" dirty="0">
                          <a:solidFill>
                            <a:srgbClr val="3E8E7E"/>
                          </a:solidFill>
                          <a:latin typeface="Calibri" pitchFamily="34" charset="0"/>
                          <a:ea typeface="Calibri" pitchFamily="34" charset="-122"/>
                          <a:cs typeface="Calibri" pitchFamily="34" charset="-120"/>
                        </a:rPr>
                        <a:t>P99 &lt; 150ms end-to-end, allocated across 3 service hops.</a:t>
                      </a:r>
                      <a:endParaRPr lang="en-US" sz="1300" dirty="0">
                        <a:latin typeface="Calibri" charset="0"/>
                        <a:ea typeface="Calibri" charset="0"/>
                        <a:cs typeface="Calibri" charset="0"/>
                      </a:endParaRPr>
                    </a:p>
                  </a:txBody>
                  <a:tcPr marL="127000" marR="127000" marT="101600" marB="101600" anchor="ctr">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bl>
          </a:graphicData>
        </a:graphic>
      </p:graphicFrame>
      <p:sp>
        <p:nvSpPr>
          <p:cNvPr id="5" name="Shape 2"/>
          <p:cNvSpPr/>
          <p:nvPr/>
        </p:nvSpPr>
        <p:spPr>
          <a:xfrm>
            <a:off x="548640" y="5257800"/>
            <a:ext cx="11064240" cy="1051560"/>
          </a:xfrm>
          <a:prstGeom prst="roundRect">
            <a:avLst>
              <a:gd name="adj" fmla="val 6957"/>
            </a:avLst>
          </a:prstGeom>
          <a:solidFill>
            <a:srgbClr val="1E2761"/>
          </a:solidFill>
          <a:ln/>
        </p:spPr>
      </p:sp>
      <p:sp>
        <p:nvSpPr>
          <p:cNvPr id="6" name="Text 3"/>
          <p:cNvSpPr txBox="1"/>
          <p:nvPr/>
        </p:nvSpPr>
        <p:spPr>
          <a:xfrm>
            <a:off x="868680" y="5257800"/>
            <a:ext cx="10424160" cy="1051560"/>
          </a:xfrm>
          <a:prstGeom prst="rect">
            <a:avLst/>
          </a:prstGeom>
          <a:noFill/>
          <a:ln/>
        </p:spPr>
        <p:txBody>
          <a:bodyPr wrap="square" lIns="0" tIns="0" rIns="0" bIns="0" rtlCol="0" anchor="ctr"/>
          <a:lstStyle/>
          <a:p>
            <a:pPr indent="0" marL="0">
              <a:lnSpc>
                <a:spcPct val="120000"/>
              </a:lnSpc>
              <a:buNone/>
            </a:pPr>
            <a:r>
              <a:rPr lang="en-US" sz="1300" i="1" dirty="0">
                <a:solidFill>
                  <a:srgbClr val="CADCFC"/>
                </a:solidFill>
                <a:latin typeface="Calibri" pitchFamily="34" charset="0"/>
                <a:ea typeface="Calibri" pitchFamily="34" charset="-122"/>
                <a:cs typeface="Calibri" pitchFamily="34" charset="-120"/>
              </a:rPr>
              <a:t>Why this is hard to elicit: stakeholders think in business outcomes, not consistency models. Scenario-based elicitation and misuse-case analysis of failure paths are what surfaces the real number.</a:t>
            </a:r>
            <a:endParaRPr lang="en-US" sz="13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spc="100" kern="0" dirty="0">
                <a:solidFill>
                  <a:srgbClr val="8892A8"/>
                </a:solidFill>
                <a:latin typeface="Calibri" pitchFamily="34" charset="0"/>
                <a:ea typeface="Calibri" pitchFamily="34" charset="-122"/>
                <a:cs typeface="Calibri" pitchFamily="34" charset="-120"/>
              </a:rPr>
              <a:t>REQUIREMENTS ENGINEERING FOR DISTRIBUTED SYSTEMS</a:t>
            </a:r>
            <a:endParaRPr lang="en-US" sz="900" dirty="0"/>
          </a:p>
        </p:txBody>
      </p:sp>
      <p:sp>
        <p:nvSpPr>
          <p:cNvPr id="8"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8892A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C"/>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TECHNIQUES A MONOLITHIC PROJECT RARELY NEEDS</a:t>
            </a:r>
            <a:endParaRPr lang="en-US" sz="1200" dirty="0"/>
          </a:p>
        </p:txBody>
      </p:sp>
      <p:sp>
        <p:nvSpPr>
          <p:cNvPr id="3" name="Text 1"/>
          <p:cNvSpPr txBox="1"/>
          <p:nvPr/>
        </p:nvSpPr>
        <p:spPr>
          <a:xfrm>
            <a:off x="548640" y="685800"/>
            <a:ext cx="11064240" cy="77724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Elicitation &amp; Validation Techniques This System Type Rewards</a:t>
            </a:r>
            <a:endParaRPr lang="en-US" sz="2500" dirty="0"/>
          </a:p>
        </p:txBody>
      </p:sp>
      <p:sp>
        <p:nvSpPr>
          <p:cNvPr id="4" name="Shape 2"/>
          <p:cNvSpPr/>
          <p:nvPr/>
        </p:nvSpPr>
        <p:spPr>
          <a:xfrm>
            <a:off x="548640" y="1920240"/>
            <a:ext cx="594360" cy="594360"/>
          </a:xfrm>
          <a:prstGeom prst="ellipse">
            <a:avLst/>
          </a:prstGeom>
          <a:solidFill>
            <a:srgbClr val="1E2761"/>
          </a:solidFill>
          <a:ln/>
        </p:spPr>
      </p:sp>
      <p:sp>
        <p:nvSpPr>
          <p:cNvPr id="5" name="Text 3"/>
          <p:cNvSpPr txBox="1"/>
          <p:nvPr/>
        </p:nvSpPr>
        <p:spPr>
          <a:xfrm>
            <a:off x="548640" y="1920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Shape 4"/>
          <p:cNvSpPr/>
          <p:nvPr/>
        </p:nvSpPr>
        <p:spPr>
          <a:xfrm>
            <a:off x="1417320" y="1783080"/>
            <a:ext cx="9144" cy="1325880"/>
          </a:xfrm>
          <a:prstGeom prst="line">
            <a:avLst/>
          </a:prstGeom>
          <a:noFill/>
          <a:ln w="12700">
            <a:solidFill>
              <a:srgbClr val="D8DEEC"/>
            </a:solidFill>
            <a:prstDash val="solid"/>
          </a:ln>
        </p:spPr>
      </p:sp>
      <p:sp>
        <p:nvSpPr>
          <p:cNvPr id="7" name="Text 5"/>
          <p:cNvSpPr txBox="1"/>
          <p:nvPr/>
        </p:nvSpPr>
        <p:spPr>
          <a:xfrm>
            <a:off x="1691640" y="1783080"/>
            <a:ext cx="9601200" cy="41148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Failure-Inclusive Scenario Walkthroughs</a:t>
            </a:r>
            <a:endParaRPr lang="en-US" sz="1650" dirty="0"/>
          </a:p>
        </p:txBody>
      </p:sp>
      <p:sp>
        <p:nvSpPr>
          <p:cNvPr id="8" name="Text 6"/>
          <p:cNvSpPr txBox="1"/>
          <p:nvPr/>
        </p:nvSpPr>
        <p:spPr>
          <a:xfrm>
            <a:off x="1691640" y="2221992"/>
            <a:ext cx="9509760" cy="868680"/>
          </a:xfrm>
          <a:prstGeom prst="rect">
            <a:avLst/>
          </a:prstGeom>
          <a:noFill/>
          <a:ln/>
        </p:spPr>
        <p:txBody>
          <a:bodyPr wrap="square" lIns="0" tIns="0" rIns="0" bIns="0" rtlCol="0" anchor="ctr"/>
          <a:lstStyle/>
          <a:p>
            <a:pPr indent="0" marL="0">
              <a:lnSpc>
                <a:spcPct val="120000"/>
              </a:lnSpc>
              <a:buNone/>
            </a:pPr>
            <a:r>
              <a:rPr lang="en-US" sz="1300" dirty="0">
                <a:solidFill>
                  <a:srgbClr val="333A4D"/>
                </a:solidFill>
                <a:latin typeface="Calibri" pitchFamily="34" charset="0"/>
                <a:ea typeface="Calibri" pitchFamily="34" charset="-122"/>
                <a:cs typeface="Calibri" pitchFamily="34" charset="-120"/>
              </a:rPr>
              <a:t>Script the failure path explicitly — “what should happen when Service B is unreachable?” Most stakeholders never consider this until they’re asked directly, one failure mode at a time.</a:t>
            </a:r>
            <a:endParaRPr lang="en-US" sz="1300" dirty="0"/>
          </a:p>
        </p:txBody>
      </p:sp>
      <p:sp>
        <p:nvSpPr>
          <p:cNvPr id="9" name="Shape 7"/>
          <p:cNvSpPr/>
          <p:nvPr/>
        </p:nvSpPr>
        <p:spPr>
          <a:xfrm>
            <a:off x="548640" y="3337560"/>
            <a:ext cx="594360" cy="594360"/>
          </a:xfrm>
          <a:prstGeom prst="ellipse">
            <a:avLst/>
          </a:prstGeom>
          <a:solidFill>
            <a:srgbClr val="1E2761"/>
          </a:solidFill>
          <a:ln/>
        </p:spPr>
      </p:sp>
      <p:sp>
        <p:nvSpPr>
          <p:cNvPr id="10" name="Text 8"/>
          <p:cNvSpPr txBox="1"/>
          <p:nvPr/>
        </p:nvSpPr>
        <p:spPr>
          <a:xfrm>
            <a:off x="548640" y="33375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1" name="Shape 9"/>
          <p:cNvSpPr/>
          <p:nvPr/>
        </p:nvSpPr>
        <p:spPr>
          <a:xfrm>
            <a:off x="1417320" y="3200400"/>
            <a:ext cx="9144" cy="1325880"/>
          </a:xfrm>
          <a:prstGeom prst="line">
            <a:avLst/>
          </a:prstGeom>
          <a:noFill/>
          <a:ln w="12700">
            <a:solidFill>
              <a:srgbClr val="D8DEEC"/>
            </a:solidFill>
            <a:prstDash val="solid"/>
          </a:ln>
        </p:spPr>
      </p:sp>
      <p:sp>
        <p:nvSpPr>
          <p:cNvPr id="12" name="Text 10"/>
          <p:cNvSpPr txBox="1"/>
          <p:nvPr/>
        </p:nvSpPr>
        <p:spPr>
          <a:xfrm>
            <a:off x="1691640" y="3200400"/>
            <a:ext cx="9601200" cy="41148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Spike-Based Validation for Non-Functional Requirements</a:t>
            </a:r>
            <a:endParaRPr lang="en-US" sz="1650" dirty="0"/>
          </a:p>
        </p:txBody>
      </p:sp>
      <p:sp>
        <p:nvSpPr>
          <p:cNvPr id="13" name="Text 11"/>
          <p:cNvSpPr txBox="1"/>
          <p:nvPr/>
        </p:nvSpPr>
        <p:spPr>
          <a:xfrm>
            <a:off x="1691640" y="3639312"/>
            <a:ext cx="9509760" cy="868680"/>
          </a:xfrm>
          <a:prstGeom prst="rect">
            <a:avLst/>
          </a:prstGeom>
          <a:noFill/>
          <a:ln/>
        </p:spPr>
        <p:txBody>
          <a:bodyPr wrap="square" lIns="0" tIns="0" rIns="0" bIns="0" rtlCol="0" anchor="ctr"/>
          <a:lstStyle/>
          <a:p>
            <a:pPr indent="0" marL="0">
              <a:lnSpc>
                <a:spcPct val="120000"/>
              </a:lnSpc>
              <a:buNone/>
            </a:pPr>
            <a:r>
              <a:rPr lang="en-US" sz="1300" dirty="0">
                <a:solidFill>
                  <a:srgbClr val="333A4D"/>
                </a:solidFill>
                <a:latin typeface="Calibri" pitchFamily="34" charset="0"/>
                <a:ea typeface="Calibri" pitchFamily="34" charset="-122"/>
                <a:cs typeface="Calibri" pitchFamily="34" charset="-120"/>
              </a:rPr>
              <a:t>You cannot review a latency budget or a consistency guarantee into correctness on paper. It has to be prototyped and measured before it’s signed off.</a:t>
            </a:r>
            <a:endParaRPr lang="en-US" sz="1300" dirty="0"/>
          </a:p>
        </p:txBody>
      </p:sp>
      <p:sp>
        <p:nvSpPr>
          <p:cNvPr id="14" name="Shape 12"/>
          <p:cNvSpPr/>
          <p:nvPr/>
        </p:nvSpPr>
        <p:spPr>
          <a:xfrm>
            <a:off x="548640" y="4754880"/>
            <a:ext cx="594360" cy="594360"/>
          </a:xfrm>
          <a:prstGeom prst="ellipse">
            <a:avLst/>
          </a:prstGeom>
          <a:solidFill>
            <a:srgbClr val="1E2761"/>
          </a:solidFill>
          <a:ln/>
        </p:spPr>
      </p:sp>
      <p:sp>
        <p:nvSpPr>
          <p:cNvPr id="15" name="Text 13"/>
          <p:cNvSpPr txBox="1"/>
          <p:nvPr/>
        </p:nvSpPr>
        <p:spPr>
          <a:xfrm>
            <a:off x="548640" y="47548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6" name="Shape 14"/>
          <p:cNvSpPr/>
          <p:nvPr/>
        </p:nvSpPr>
        <p:spPr>
          <a:xfrm>
            <a:off x="1417320" y="4617720"/>
            <a:ext cx="9144" cy="1325880"/>
          </a:xfrm>
          <a:prstGeom prst="line">
            <a:avLst/>
          </a:prstGeom>
          <a:noFill/>
          <a:ln w="12700">
            <a:solidFill>
              <a:srgbClr val="D8DEEC"/>
            </a:solidFill>
            <a:prstDash val="solid"/>
          </a:ln>
        </p:spPr>
      </p:sp>
      <p:sp>
        <p:nvSpPr>
          <p:cNvPr id="17" name="Text 15"/>
          <p:cNvSpPr txBox="1"/>
          <p:nvPr/>
        </p:nvSpPr>
        <p:spPr>
          <a:xfrm>
            <a:off x="1691640" y="4617720"/>
            <a:ext cx="9601200" cy="41148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Cross-Team Requirement Negotiation</a:t>
            </a:r>
            <a:endParaRPr lang="en-US" sz="1650" dirty="0"/>
          </a:p>
        </p:txBody>
      </p:sp>
      <p:sp>
        <p:nvSpPr>
          <p:cNvPr id="18" name="Text 16"/>
          <p:cNvSpPr txBox="1"/>
          <p:nvPr/>
        </p:nvSpPr>
        <p:spPr>
          <a:xfrm>
            <a:off x="1691640" y="5056632"/>
            <a:ext cx="9509760" cy="868680"/>
          </a:xfrm>
          <a:prstGeom prst="rect">
            <a:avLst/>
          </a:prstGeom>
          <a:noFill/>
          <a:ln/>
        </p:spPr>
        <p:txBody>
          <a:bodyPr wrap="square" lIns="0" tIns="0" rIns="0" bIns="0" rtlCol="0" anchor="ctr"/>
          <a:lstStyle/>
          <a:p>
            <a:pPr indent="0" marL="0">
              <a:lnSpc>
                <a:spcPct val="120000"/>
              </a:lnSpc>
              <a:buNone/>
            </a:pPr>
            <a:r>
              <a:rPr lang="en-US" sz="1300" dirty="0">
                <a:solidFill>
                  <a:srgbClr val="333A4D"/>
                </a:solidFill>
                <a:latin typeface="Calibri" pitchFamily="34" charset="0"/>
                <a:ea typeface="Calibri" pitchFamily="34" charset="-122"/>
                <a:cs typeface="Calibri" pitchFamily="34" charset="-120"/>
              </a:rPr>
              <a:t>A single distributed-system requirement often spans services owned by different teams. Treat that negotiation as a formal, tracked RE activity — not a hallway conversation.</a:t>
            </a:r>
            <a:endParaRPr lang="en-US" sz="1300" dirty="0"/>
          </a:p>
        </p:txBody>
      </p:sp>
      <p:sp>
        <p:nvSpPr>
          <p:cNvPr id="19" name="Text 1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spc="100" kern="0" dirty="0">
                <a:solidFill>
                  <a:srgbClr val="8892A8"/>
                </a:solidFill>
                <a:latin typeface="Calibri" pitchFamily="34" charset="0"/>
                <a:ea typeface="Calibri" pitchFamily="34" charset="-122"/>
                <a:cs typeface="Calibri" pitchFamily="34" charset="-120"/>
              </a:rPr>
              <a:t>REQUIREMENTS ENGINEERING FOR DISTRIBUTED SYSTEMS</a:t>
            </a:r>
            <a:endParaRPr lang="en-US" sz="900" dirty="0"/>
          </a:p>
        </p:txBody>
      </p:sp>
      <p:sp>
        <p:nvSpPr>
          <p:cNvPr id="20" name="Text 18"/>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8892A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C"/>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ONE TRADE-OFF, MADE EXPLICIT</a:t>
            </a:r>
            <a:endParaRPr lang="en-US" sz="1200" dirty="0"/>
          </a:p>
        </p:txBody>
      </p:sp>
      <p:sp>
        <p:nvSpPr>
          <p:cNvPr id="3" name="Text 1"/>
          <p:cNvSpPr txBox="1"/>
          <p:nvPr/>
        </p:nvSpPr>
        <p:spPr>
          <a:xfrm>
            <a:off x="548640" y="685800"/>
            <a:ext cx="11064240" cy="7772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Case in Point: Amazon DynamoDB’s Availability Requirement</a:t>
            </a:r>
            <a:endParaRPr lang="en-US" sz="2400" dirty="0"/>
          </a:p>
        </p:txBody>
      </p:sp>
      <p:sp>
        <p:nvSpPr>
          <p:cNvPr id="4" name="Text 2"/>
          <p:cNvSpPr txBox="1"/>
          <p:nvPr/>
        </p:nvSpPr>
        <p:spPr>
          <a:xfrm>
            <a:off x="548640" y="1737360"/>
            <a:ext cx="6492240" cy="1188720"/>
          </a:xfrm>
          <a:prstGeom prst="rect">
            <a:avLst/>
          </a:prstGeom>
          <a:noFill/>
          <a:ln/>
        </p:spPr>
        <p:txBody>
          <a:bodyPr wrap="square" lIns="0" tIns="0" rIns="0" bIns="0" rtlCol="0" anchor="ctr"/>
          <a:lstStyle/>
          <a:p>
            <a:pPr indent="0" marL="0">
              <a:lnSpc>
                <a:spcPct val="125000"/>
              </a:lnSpc>
              <a:buNone/>
            </a:pPr>
            <a:r>
              <a:rPr lang="en-US" sz="1500" dirty="0">
                <a:solidFill>
                  <a:srgbClr val="333A4D"/>
                </a:solidFill>
                <a:latin typeface="Calibri" pitchFamily="34" charset="0"/>
                <a:ea typeface="Calibri" pitchFamily="34" charset="-122"/>
                <a:cs typeface="Calibri" pitchFamily="34" charset="-120"/>
              </a:rPr>
              <a:t>The driving business requirement behind Amazon’s Dynamo design was blunt: </a:t>
            </a:r>
            <a:pPr indent="0" marL="0">
              <a:lnSpc>
                <a:spcPct val="125000"/>
              </a:lnSpc>
              <a:buNone/>
            </a:pPr>
            <a:r>
              <a:rPr lang="en-US" sz="1500" b="1" dirty="0">
                <a:solidFill>
                  <a:srgbClr val="1E2761"/>
                </a:solidFill>
                <a:latin typeface="Calibri" pitchFamily="34" charset="0"/>
                <a:ea typeface="Calibri" pitchFamily="34" charset="-122"/>
                <a:cs typeface="Calibri" pitchFamily="34" charset="-120"/>
              </a:rPr>
              <a:t>a shopping-cart write must never be rejected, even during a network partition.</a:t>
            </a:r>
            <a:endParaRPr lang="en-US" sz="1500" dirty="0"/>
          </a:p>
        </p:txBody>
      </p:sp>
      <p:sp>
        <p:nvSpPr>
          <p:cNvPr id="5" name="Text 3"/>
          <p:cNvSpPr txBox="1"/>
          <p:nvPr/>
        </p:nvSpPr>
        <p:spPr>
          <a:xfrm>
            <a:off x="548640" y="2880360"/>
            <a:ext cx="6492240" cy="1463040"/>
          </a:xfrm>
          <a:prstGeom prst="rect">
            <a:avLst/>
          </a:prstGeom>
          <a:noFill/>
          <a:ln/>
        </p:spPr>
        <p:txBody>
          <a:bodyPr wrap="square" lIns="0" tIns="0" rIns="0" bIns="0" rtlCol="0" anchor="ctr"/>
          <a:lstStyle/>
          <a:p>
            <a:pPr indent="0" marL="0">
              <a:lnSpc>
                <a:spcPct val="125000"/>
              </a:lnSpc>
              <a:buNone/>
            </a:pPr>
            <a:r>
              <a:rPr lang="en-US" sz="1400" dirty="0">
                <a:solidFill>
                  <a:srgbClr val="333A4D"/>
                </a:solidFill>
                <a:latin typeface="Calibri" pitchFamily="34" charset="0"/>
                <a:ea typeface="Calibri" pitchFamily="34" charset="-122"/>
                <a:cs typeface="Calibri" pitchFamily="34" charset="-120"/>
              </a:rPr>
              <a:t>That single sentence, specified explicitly rather than left as an implied “highly available” NFR, is what pushed the architecture toward eventual consistency and conflict resolution at read time instead of the strong-consistency defaults engineers reach for from RDBMS experience.</a:t>
            </a:r>
            <a:endParaRPr lang="en-US" sz="1400" dirty="0"/>
          </a:p>
        </p:txBody>
      </p:sp>
      <p:sp>
        <p:nvSpPr>
          <p:cNvPr id="6" name="Text 4"/>
          <p:cNvSpPr txBox="1"/>
          <p:nvPr/>
        </p:nvSpPr>
        <p:spPr>
          <a:xfrm>
            <a:off x="548640" y="4434840"/>
            <a:ext cx="6492240" cy="1188720"/>
          </a:xfrm>
          <a:prstGeom prst="rect">
            <a:avLst/>
          </a:prstGeom>
          <a:noFill/>
          <a:ln/>
        </p:spPr>
        <p:txBody>
          <a:bodyPr wrap="square" lIns="0" tIns="0" rIns="0" bIns="0" rtlCol="0" anchor="ctr"/>
          <a:lstStyle/>
          <a:p>
            <a:pPr indent="0" marL="0">
              <a:lnSpc>
                <a:spcPct val="125000"/>
              </a:lnSpc>
              <a:buNone/>
            </a:pPr>
            <a:r>
              <a:rPr lang="en-US" sz="1300" i="1" dirty="0">
                <a:solidFill>
                  <a:srgbClr val="5A6480"/>
                </a:solidFill>
                <a:latin typeface="Calibri" pitchFamily="34" charset="0"/>
                <a:ea typeface="Calibri" pitchFamily="34" charset="-122"/>
                <a:cs typeface="Calibri" pitchFamily="34" charset="-120"/>
              </a:rPr>
              <a:t>Left vague, that requirement would have defaulted to familiar strong-consistency patterns — and cart writes would have failed during exactly the partitions the business requirement was written to survive.</a:t>
            </a:r>
            <a:endParaRPr lang="en-US" sz="1300" dirty="0"/>
          </a:p>
        </p:txBody>
      </p:sp>
      <p:sp>
        <p:nvSpPr>
          <p:cNvPr id="7" name="Shape 5"/>
          <p:cNvSpPr/>
          <p:nvPr/>
        </p:nvSpPr>
        <p:spPr>
          <a:xfrm>
            <a:off x="7498080" y="1737360"/>
            <a:ext cx="4114800" cy="3977640"/>
          </a:xfrm>
          <a:prstGeom prst="roundRect">
            <a:avLst>
              <a:gd name="adj" fmla="val 1839"/>
            </a:avLst>
          </a:prstGeom>
          <a:solidFill>
            <a:srgbClr val="1E2761"/>
          </a:solidFill>
          <a:ln/>
        </p:spPr>
      </p:sp>
      <p:sp>
        <p:nvSpPr>
          <p:cNvPr id="8" name="Text 6"/>
          <p:cNvSpPr txBox="1"/>
          <p:nvPr/>
        </p:nvSpPr>
        <p:spPr>
          <a:xfrm>
            <a:off x="7863840" y="2011680"/>
            <a:ext cx="3383280" cy="320040"/>
          </a:xfrm>
          <a:prstGeom prst="rect">
            <a:avLst/>
          </a:prstGeom>
          <a:noFill/>
          <a:ln/>
        </p:spPr>
        <p:txBody>
          <a:bodyPr wrap="square" lIns="0" tIns="0" rIns="0" bIns="0" rtlCol="0" anchor="ctr"/>
          <a:lstStyle/>
          <a:p>
            <a:pPr indent="0" marL="0">
              <a:buNone/>
            </a:pPr>
            <a:r>
              <a:rPr lang="en-US" sz="1100" b="1" spc="150" kern="0" dirty="0">
                <a:solidFill>
                  <a:srgbClr val="E8AA42"/>
                </a:solidFill>
                <a:latin typeface="Calibri" pitchFamily="34" charset="0"/>
                <a:ea typeface="Calibri" pitchFamily="34" charset="-122"/>
                <a:cs typeface="Calibri" pitchFamily="34" charset="-120"/>
              </a:rPr>
              <a:t>EXPLICIT TRADE-OFF</a:t>
            </a:r>
            <a:endParaRPr lang="en-US" sz="1100" dirty="0"/>
          </a:p>
        </p:txBody>
      </p:sp>
      <p:sp>
        <p:nvSpPr>
          <p:cNvPr id="9" name="Text 7"/>
          <p:cNvSpPr txBox="1"/>
          <p:nvPr/>
        </p:nvSpPr>
        <p:spPr>
          <a:xfrm>
            <a:off x="7863840" y="2331720"/>
            <a:ext cx="3383280" cy="1737360"/>
          </a:xfrm>
          <a:prstGeom prst="rect">
            <a:avLst/>
          </a:prstGeom>
          <a:noFill/>
          <a:ln/>
        </p:spPr>
        <p:txBody>
          <a:bodyPr wrap="square" lIns="0" tIns="0" rIns="0" bIns="0" rtlCol="0" anchor="ctr"/>
          <a:lstStyle/>
          <a:p>
            <a:pPr algn="ctr" indent="0" marL="0">
              <a:lnSpc>
                <a:spcPct val="105000"/>
              </a:lnSpc>
              <a:buNone/>
            </a:pPr>
            <a:r>
              <a:rPr lang="en-US" sz="2600" b="1" dirty="0">
                <a:solidFill>
                  <a:srgbClr val="FFFFFF"/>
                </a:solidFill>
                <a:latin typeface="Cambria" pitchFamily="34" charset="0"/>
                <a:ea typeface="Cambria" pitchFamily="34" charset="-122"/>
                <a:cs typeface="Cambria" pitchFamily="34" charset="-120"/>
              </a:rPr>
              <a:t>Availability</a:t>
            </a:r>
            <a:endParaRPr lang="en-US" sz="2600" dirty="0"/>
          </a:p>
          <a:p>
            <a:pPr algn="ctr" indent="0" marL="0">
              <a:lnSpc>
                <a:spcPct val="105000"/>
              </a:lnSpc>
              <a:buNone/>
            </a:pPr>
            <a:r>
              <a:rPr lang="en-US" sz="2600" b="1" dirty="0">
                <a:solidFill>
                  <a:srgbClr val="FFFFFF"/>
                </a:solidFill>
                <a:latin typeface="Cambria" pitchFamily="34" charset="0"/>
                <a:ea typeface="Cambria" pitchFamily="34" charset="-122"/>
                <a:cs typeface="Cambria" pitchFamily="34" charset="-120"/>
              </a:rPr>
              <a:t>&gt;</a:t>
            </a:r>
            <a:endParaRPr lang="en-US" sz="2600" dirty="0"/>
          </a:p>
          <a:p>
            <a:pPr algn="ctr" indent="0" marL="0">
              <a:lnSpc>
                <a:spcPct val="105000"/>
              </a:lnSpc>
              <a:buNone/>
            </a:pPr>
            <a:r>
              <a:rPr lang="en-US" sz="2600" b="1" dirty="0">
                <a:solidFill>
                  <a:srgbClr val="FFFFFF"/>
                </a:solidFill>
                <a:latin typeface="Cambria" pitchFamily="34" charset="0"/>
                <a:ea typeface="Cambria" pitchFamily="34" charset="-122"/>
                <a:cs typeface="Cambria" pitchFamily="34" charset="-120"/>
              </a:rPr>
              <a:t>Strong Consistency</a:t>
            </a:r>
            <a:endParaRPr lang="en-US" sz="2600" dirty="0"/>
          </a:p>
        </p:txBody>
      </p:sp>
      <p:sp>
        <p:nvSpPr>
          <p:cNvPr id="10" name="Shape 8"/>
          <p:cNvSpPr/>
          <p:nvPr/>
        </p:nvSpPr>
        <p:spPr>
          <a:xfrm>
            <a:off x="7863840" y="4206240"/>
            <a:ext cx="3383280" cy="9144"/>
          </a:xfrm>
          <a:prstGeom prst="line">
            <a:avLst/>
          </a:prstGeom>
          <a:noFill/>
          <a:ln w="12700">
            <a:solidFill>
              <a:srgbClr val="3A4488"/>
            </a:solidFill>
            <a:prstDash val="solid"/>
          </a:ln>
        </p:spPr>
      </p:sp>
      <p:sp>
        <p:nvSpPr>
          <p:cNvPr id="11" name="Text 9"/>
          <p:cNvSpPr txBox="1"/>
          <p:nvPr/>
        </p:nvSpPr>
        <p:spPr>
          <a:xfrm>
            <a:off x="7863840" y="4389120"/>
            <a:ext cx="3383280" cy="1143000"/>
          </a:xfrm>
          <a:prstGeom prst="rect">
            <a:avLst/>
          </a:prstGeom>
          <a:noFill/>
          <a:ln/>
        </p:spPr>
        <p:txBody>
          <a:bodyPr wrap="square" lIns="0" tIns="0" rIns="0" bIns="0" rtlCol="0" anchor="ctr"/>
          <a:lstStyle/>
          <a:p>
            <a:pPr algn="ctr" indent="0" marL="0">
              <a:lnSpc>
                <a:spcPct val="125000"/>
              </a:lnSpc>
              <a:buNone/>
            </a:pPr>
            <a:r>
              <a:rPr lang="en-US" sz="1250" i="1" dirty="0">
                <a:solidFill>
                  <a:srgbClr val="CADCFC"/>
                </a:solidFill>
                <a:latin typeface="Calibri" pitchFamily="34" charset="0"/>
                <a:ea typeface="Calibri" pitchFamily="34" charset="-122"/>
                <a:cs typeface="Calibri" pitchFamily="34" charset="-120"/>
              </a:rPr>
              <a:t>Chosen by design, not by accident — because the requirement named the failure condition explicitly.</a:t>
            </a:r>
            <a:endParaRPr lang="en-US" sz="1250" dirty="0"/>
          </a:p>
        </p:txBody>
      </p:sp>
      <p:sp>
        <p:nvSpPr>
          <p:cNvPr id="12" name="Text 1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spc="100" kern="0" dirty="0">
                <a:solidFill>
                  <a:srgbClr val="8892A8"/>
                </a:solidFill>
                <a:latin typeface="Calibri" pitchFamily="34" charset="0"/>
                <a:ea typeface="Calibri" pitchFamily="34" charset="-122"/>
                <a:cs typeface="Calibri" pitchFamily="34" charset="-120"/>
              </a:rPr>
              <a:t>REQUIREMENTS ENGINEERING FOR DISTRIBUTED SYSTEMS</a:t>
            </a:r>
            <a:endParaRPr lang="en-US" sz="900" dirty="0"/>
          </a:p>
        </p:txBody>
      </p:sp>
      <p:sp>
        <p:nvSpPr>
          <p:cNvPr id="13" name="Text 11"/>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8892A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CLOSING SYNTHESIS</a:t>
            </a:r>
            <a:endParaRPr lang="en-US" sz="1200" dirty="0"/>
          </a:p>
        </p:txBody>
      </p:sp>
      <p:sp>
        <p:nvSpPr>
          <p:cNvPr id="3" name="Shape 1"/>
          <p:cNvSpPr/>
          <p:nvPr/>
        </p:nvSpPr>
        <p:spPr>
          <a:xfrm>
            <a:off x="548640" y="1371600"/>
            <a:ext cx="54864" cy="2103120"/>
          </a:xfrm>
          <a:prstGeom prst="rect">
            <a:avLst/>
          </a:prstGeom>
          <a:solidFill>
            <a:srgbClr val="E8AA42"/>
          </a:solidFill>
          <a:ln/>
        </p:spPr>
      </p:sp>
      <p:sp>
        <p:nvSpPr>
          <p:cNvPr id="4" name="Text 2"/>
          <p:cNvSpPr txBox="1"/>
          <p:nvPr/>
        </p:nvSpPr>
        <p:spPr>
          <a:xfrm>
            <a:off x="822960" y="1280160"/>
            <a:ext cx="9601200" cy="2286000"/>
          </a:xfrm>
          <a:prstGeom prst="rect">
            <a:avLst/>
          </a:prstGeom>
          <a:noFill/>
          <a:ln/>
        </p:spPr>
        <p:txBody>
          <a:bodyPr wrap="square" lIns="0" tIns="0" rIns="0" bIns="0" rtlCol="0" anchor="ctr"/>
          <a:lstStyle/>
          <a:p>
            <a:pPr indent="0" marL="0">
              <a:lnSpc>
                <a:spcPct val="120000"/>
              </a:lnSpc>
              <a:buNone/>
            </a:pPr>
            <a:r>
              <a:rPr lang="en-US" sz="2600" b="1" i="1" dirty="0">
                <a:solidFill>
                  <a:srgbClr val="FFFFFF"/>
                </a:solidFill>
                <a:latin typeface="Cambria" pitchFamily="34" charset="0"/>
                <a:ea typeface="Cambria" pitchFamily="34" charset="-122"/>
                <a:cs typeface="Cambria" pitchFamily="34" charset="-120"/>
              </a:rPr>
              <a:t>“The requirements document isn’t complete until it specifies what happens when things fail — because failure isn’t an edge case. It’s a normal operating state.”</a:t>
            </a:r>
            <a:endParaRPr lang="en-US" sz="2600" dirty="0"/>
          </a:p>
        </p:txBody>
      </p:sp>
      <p:sp>
        <p:nvSpPr>
          <p:cNvPr id="5" name="Shape 3"/>
          <p:cNvSpPr/>
          <p:nvPr/>
        </p:nvSpPr>
        <p:spPr>
          <a:xfrm>
            <a:off x="822960" y="3840480"/>
            <a:ext cx="9601200" cy="1051560"/>
          </a:xfrm>
          <a:prstGeom prst="roundRect">
            <a:avLst>
              <a:gd name="adj" fmla="val 6957"/>
            </a:avLst>
          </a:prstGeom>
          <a:solidFill>
            <a:srgbClr val="262E6B"/>
          </a:solidFill>
          <a:ln/>
        </p:spPr>
      </p:sp>
      <p:sp>
        <p:nvSpPr>
          <p:cNvPr id="6" name="Text 4"/>
          <p:cNvSpPr txBox="1"/>
          <p:nvPr/>
        </p:nvSpPr>
        <p:spPr>
          <a:xfrm>
            <a:off x="1097280" y="3840480"/>
            <a:ext cx="9052560" cy="1051560"/>
          </a:xfrm>
          <a:prstGeom prst="rect">
            <a:avLst/>
          </a:prstGeom>
          <a:noFill/>
          <a:ln/>
        </p:spPr>
        <p:txBody>
          <a:bodyPr wrap="square" lIns="0" tIns="0" rIns="0" bIns="0" rtlCol="0" anchor="ctr"/>
          <a:lstStyle/>
          <a:p>
            <a:pPr indent="0" marL="0">
              <a:lnSpc>
                <a:spcPct val="120000"/>
              </a:lnSpc>
              <a:buNone/>
            </a:pPr>
            <a:r>
              <a:rPr lang="en-US" sz="1500" b="1" dirty="0">
                <a:solidFill>
                  <a:srgbClr val="E8AA42"/>
                </a:solidFill>
                <a:latin typeface="Calibri" pitchFamily="34" charset="0"/>
                <a:ea typeface="Calibri" pitchFamily="34" charset="-122"/>
                <a:cs typeface="Calibri" pitchFamily="34" charset="-120"/>
              </a:rPr>
              <a:t>Practical implication:  </a:t>
            </a:r>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every distributed-systems SRS needs an explicit degraded-mode section — or it isn’t done.</a:t>
            </a:r>
            <a:endParaRPr lang="en-US" sz="1500" dirty="0"/>
          </a:p>
        </p:txBody>
      </p:sp>
      <p:sp>
        <p:nvSpPr>
          <p:cNvPr id="7" name="Text 5"/>
          <p:cNvSpPr txBox="1"/>
          <p:nvPr/>
        </p:nvSpPr>
        <p:spPr>
          <a:xfrm>
            <a:off x="822960" y="5257800"/>
            <a:ext cx="9144000" cy="457200"/>
          </a:xfrm>
          <a:prstGeom prst="rect">
            <a:avLst/>
          </a:prstGeom>
          <a:noFill/>
          <a:ln/>
        </p:spPr>
        <p:txBody>
          <a:bodyPr wrap="square" lIns="0" tIns="0" rIns="0" bIns="0" rtlCol="0" anchor="ctr"/>
          <a:lstStyle/>
          <a:p>
            <a:pPr indent="0" marL="0">
              <a:buNone/>
            </a:pPr>
            <a:r>
              <a:rPr lang="en-US" sz="1400" i="1" dirty="0">
                <a:solidFill>
                  <a:srgbClr val="9AA6D4"/>
                </a:solidFill>
                <a:latin typeface="Calibri" pitchFamily="34" charset="0"/>
                <a:ea typeface="Calibri" pitchFamily="34" charset="-122"/>
                <a:cs typeface="Calibri" pitchFamily="34" charset="-120"/>
              </a:rPr>
              <a:t>Thank you — happy to take questions.</a:t>
            </a:r>
            <a:endParaRPr lang="en-US" sz="1400" dirty="0"/>
          </a:p>
        </p:txBody>
      </p:sp>
      <p:sp>
        <p:nvSpPr>
          <p:cNvPr id="8"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spc="100" kern="0" dirty="0">
                <a:solidFill>
                  <a:srgbClr val="CADCFC"/>
                </a:solidFill>
                <a:latin typeface="Calibri" pitchFamily="34" charset="0"/>
                <a:ea typeface="Calibri" pitchFamily="34" charset="-122"/>
                <a:cs typeface="Calibri" pitchFamily="34" charset="-120"/>
              </a:rPr>
              <a:t>REQUIREMENTS ENGINEERING FOR DISTRIBUTED SYSTEMS</a:t>
            </a:r>
            <a:endParaRPr lang="en-US" sz="900" dirty="0"/>
          </a:p>
        </p:txBody>
      </p:sp>
      <p:sp>
        <p:nvSpPr>
          <p:cNvPr id="9" name="Text 7"/>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2026-09-13T19:42:15Z</dcterms:created>
  <dcterms:modified xsi:type="dcterms:W3CDTF">2026-09-13T19:42:15Z</dcterms:modified>
</cp:coreProperties>
</file>